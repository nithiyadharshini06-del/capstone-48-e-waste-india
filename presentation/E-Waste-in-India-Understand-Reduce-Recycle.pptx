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embeddedFontLst>
    <p:embeddedFont>
      <p:font typeface="Andika" panose="020B0604020202020204" charset="0"/>
      <p:regular r:id="rId10"/>
    </p:embeddedFont>
    <p:embeddedFont>
      <p:font typeface="Andika Bold" panose="020B0604020202020204" charset="0"/>
      <p:regular r:id="rId11"/>
    </p:embeddedFont>
    <p:embeddedFont>
      <p:font typeface="Bitter Bold" panose="020B0604020202020204" charset="0"/>
      <p:regular r:id="rId12"/>
    </p:embeddedFont>
    <p:embeddedFont>
      <p:font typeface="Bitter ExtraBold" panose="020B0604020202020204" charset="0"/>
      <p:regular r:id="rId1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1B4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4155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as a short, evidence-led guide for students. The deck moves from the scale of e-waste to its risks, then to actions students can take and the verification process behind the three infographics.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two bars and read the values exactly. Emphasise the distinction: the figures describe estimated generation, not how much was collected or recycled.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cautious language. The point is the pathway from unsafe handling to broader environmental and health risk, followed by the practical alternative: responsible collection and recycling.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six actions as a checklist. The first five change how a device is handled; the sixth moves the habit from one student to the campus community.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coordinated mockup panels, not finished artwork. The three final infographic images should share the same facts, visual language, and accessibility checks.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AI as support for organising and communicating the work, not as a substitute for verification. Before submission, confirm the actual tools, repository URL, final figures, source labels, and alt text against the exported infographics.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returning to the practical message. The project is useful when the facts remain accurate, the graphics remain accessible, and students know what to do with their next old device.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141B45"/>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3"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141B45"/>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www.pib.gov.in/PressReleasePage.aspx?PRID=2147876&amp;lang=2&amp;reg=3"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9.jpeg"/><Relationship Id="rId4" Type="http://schemas.openxmlformats.org/officeDocument/2006/relationships/hyperlink" Target="https://www.eprewaste.cpcb.gov.in/"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33387" y="685800"/>
            <a:ext cx="5968851" cy="4471392"/>
          </a:xfrm>
          <a:prstGeom prst="rect">
            <a:avLst/>
          </a:prstGeom>
          <a:solidFill>
            <a:srgbClr val="141B45"/>
          </a:solidFill>
          <a:ln w="25399">
            <a:solidFill>
              <a:srgbClr val="F4EFE2"/>
            </a:solidFill>
            <a:prstDash val="solid"/>
          </a:ln>
        </p:spPr>
      </p:sp>
      <p:sp>
        <p:nvSpPr>
          <p:cNvPr id="3" name="Text 1"/>
          <p:cNvSpPr/>
          <p:nvPr/>
        </p:nvSpPr>
        <p:spPr>
          <a:xfrm>
            <a:off x="939776" y="890270"/>
            <a:ext cx="5765656" cy="274241"/>
          </a:xfrm>
          <a:prstGeom prst="rect">
            <a:avLst/>
          </a:prstGeom>
          <a:noFill/>
          <a:ln/>
        </p:spPr>
        <p:txBody>
          <a:bodyPr wrap="none" lIns="0" tIns="0" rIns="0" bIns="0" rtlCol="0" anchor="t"/>
          <a:lstStyle/>
          <a:p>
            <a:pPr marL="0" indent="0" algn="l">
              <a:lnSpc>
                <a:spcPct val="100000"/>
              </a:lnSpc>
              <a:buNone/>
            </a:pPr>
            <a:r>
              <a:rPr lang="en-US" sz="1800" b="1" kern="100" spc="144" dirty="0">
                <a:solidFill>
                  <a:srgbClr val="5CC8F0"/>
                </a:solidFill>
                <a:latin typeface="Andika Bold" pitchFamily="34" charset="0"/>
                <a:ea typeface="Andika Bold" pitchFamily="34" charset="-122"/>
                <a:cs typeface="Andika Bold" pitchFamily="34" charset="-120"/>
              </a:rPr>
              <a:t>CAPSTONE 48 · AI &amp; DATA SCIENCE</a:t>
            </a:r>
            <a:endParaRPr lang="en-US" sz="1800" dirty="0"/>
          </a:p>
        </p:txBody>
      </p:sp>
      <p:sp>
        <p:nvSpPr>
          <p:cNvPr id="4" name="Text 2"/>
          <p:cNvSpPr/>
          <p:nvPr/>
        </p:nvSpPr>
        <p:spPr>
          <a:xfrm>
            <a:off x="939776" y="1282303"/>
            <a:ext cx="5156071" cy="1828800"/>
          </a:xfrm>
          <a:prstGeom prst="rect">
            <a:avLst/>
          </a:prstGeom>
          <a:noFill/>
          <a:ln/>
        </p:spPr>
        <p:txBody>
          <a:bodyPr wrap="square" lIns="0" tIns="0" rIns="0" bIns="0" rtlCol="0" anchor="t">
            <a:normAutofit lnSpcReduction="10000"/>
          </a:bodyPr>
          <a:lstStyle/>
          <a:p>
            <a:pPr marL="0" indent="0" algn="l">
              <a:lnSpc>
                <a:spcPct val="83000"/>
              </a:lnSpc>
              <a:buNone/>
            </a:pPr>
            <a:r>
              <a:rPr lang="en-US" sz="4800" kern="100" spc="-72" dirty="0">
                <a:solidFill>
                  <a:srgbClr val="F4EFE2"/>
                </a:solidFill>
                <a:latin typeface="Bitter ExtraBold" pitchFamily="34" charset="0"/>
                <a:ea typeface="Bitter ExtraBold" pitchFamily="34" charset="-122"/>
                <a:cs typeface="Bitter ExtraBold" pitchFamily="34" charset="-120"/>
              </a:rPr>
              <a:t>E-Waste in India:</a:t>
            </a:r>
            <a:endParaRPr lang="en-US" sz="4800" dirty="0"/>
          </a:p>
          <a:p>
            <a:pPr marL="0" indent="0" algn="l">
              <a:lnSpc>
                <a:spcPct val="83000"/>
              </a:lnSpc>
              <a:buNone/>
            </a:pPr>
            <a:r>
              <a:rPr lang="en-US" sz="4800" kern="100" spc="-72" dirty="0">
                <a:solidFill>
                  <a:srgbClr val="F4EFE2"/>
                </a:solidFill>
                <a:latin typeface="Bitter ExtraBold" pitchFamily="34" charset="0"/>
                <a:ea typeface="Bitter ExtraBold" pitchFamily="34" charset="-122"/>
                <a:cs typeface="Bitter ExtraBold" pitchFamily="34" charset="-120"/>
              </a:rPr>
              <a:t>Understand. Reduce. Recycle.</a:t>
            </a:r>
            <a:endParaRPr lang="en-US" sz="4800" dirty="0"/>
          </a:p>
        </p:txBody>
      </p:sp>
      <p:sp>
        <p:nvSpPr>
          <p:cNvPr id="5" name="Text 3"/>
          <p:cNvSpPr/>
          <p:nvPr/>
        </p:nvSpPr>
        <p:spPr>
          <a:xfrm>
            <a:off x="939776" y="3305413"/>
            <a:ext cx="5156071" cy="953691"/>
          </a:xfrm>
          <a:prstGeom prst="rect">
            <a:avLst/>
          </a:prstGeom>
          <a:noFill/>
          <a:ln/>
        </p:spPr>
        <p:txBody>
          <a:bodyPr wrap="square" lIns="0" tIns="0" rIns="0" bIns="152396" rtlCol="0" anchor="t">
            <a:normAutofit/>
          </a:bodyPr>
          <a:lstStyle/>
          <a:p>
            <a:pPr marL="0" indent="0" algn="l">
              <a:lnSpc>
                <a:spcPct val="117000"/>
              </a:lnSpc>
              <a:buNone/>
            </a:pPr>
            <a:r>
              <a:rPr lang="en-US" sz="2200" dirty="0">
                <a:solidFill>
                  <a:srgbClr val="FFFFFF"/>
                </a:solidFill>
                <a:latin typeface="Andika" pitchFamily="34" charset="0"/>
                <a:ea typeface="Andika" pitchFamily="34" charset="-122"/>
                <a:cs typeface="Andika" pitchFamily="34" charset="-120"/>
              </a:rPr>
              <a:t>Verified facts, clear risks, and practical student action.</a:t>
            </a:r>
            <a:endParaRPr lang="en-US" sz="2200" dirty="0"/>
          </a:p>
        </p:txBody>
      </p:sp>
      <p:sp>
        <p:nvSpPr>
          <p:cNvPr id="6" name="Text 4"/>
          <p:cNvSpPr/>
          <p:nvPr/>
        </p:nvSpPr>
        <p:spPr>
          <a:xfrm>
            <a:off x="939776" y="4354671"/>
            <a:ext cx="5156071" cy="639961"/>
          </a:xfrm>
          <a:prstGeom prst="rect">
            <a:avLst/>
          </a:prstGeom>
          <a:noFill/>
          <a:ln/>
        </p:spPr>
        <p:txBody>
          <a:bodyPr wrap="square" lIns="0" tIns="0" rIns="0" bIns="0" rtlCol="0" anchor="t">
            <a:normAutofit/>
          </a:bodyPr>
          <a:lstStyle/>
          <a:p>
            <a:pPr marL="0" indent="0" algn="l">
              <a:lnSpc>
                <a:spcPct val="117000"/>
              </a:lnSpc>
              <a:buNone/>
            </a:pPr>
            <a:r>
              <a:rPr lang="en-US" sz="1800" dirty="0">
                <a:solidFill>
                  <a:srgbClr val="FFFFFF"/>
                </a:solidFill>
                <a:latin typeface="Andika" pitchFamily="34" charset="0"/>
                <a:ea typeface="Andika" pitchFamily="34" charset="-122"/>
                <a:cs typeface="Andika" pitchFamily="34" charset="-120"/>
              </a:rPr>
              <a:t>S Nithiya Dharshini · AI&amp;DS · Dhanalakshmi College of Engineering</a:t>
            </a:r>
            <a:endParaRPr lang="en-US" sz="1800" dirty="0"/>
          </a:p>
        </p:txBody>
      </p:sp>
      <p:pic>
        <p:nvPicPr>
          <p:cNvPr id="10" name="Picture 9">
            <a:extLst>
              <a:ext uri="{FF2B5EF4-FFF2-40B4-BE49-F238E27FC236}">
                <a16:creationId xmlns:a16="http://schemas.microsoft.com/office/drawing/2014/main" id="{EE2704AE-56AB-4FF5-B3AC-D4C95960339D}"/>
              </a:ext>
            </a:extLst>
          </p:cNvPr>
          <p:cNvPicPr>
            <a:picLocks noChangeAspect="1"/>
          </p:cNvPicPr>
          <p:nvPr/>
        </p:nvPicPr>
        <p:blipFill>
          <a:blip r:embed="rId3"/>
          <a:stretch>
            <a:fillRect/>
          </a:stretch>
        </p:blipFill>
        <p:spPr>
          <a:xfrm>
            <a:off x="6944987" y="93307"/>
            <a:ext cx="5247013" cy="673261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189" y="486727"/>
            <a:ext cx="11277318" cy="453330"/>
          </a:xfrm>
          <a:prstGeom prst="rect">
            <a:avLst/>
          </a:prstGeom>
          <a:noFill/>
          <a:ln/>
        </p:spPr>
        <p:txBody>
          <a:bodyPr wrap="none" lIns="0" tIns="0" rIns="0" bIns="0" rtlCol="0" anchor="t"/>
          <a:lstStyle/>
          <a:p>
            <a:pPr marL="0" indent="0" algn="l">
              <a:lnSpc>
                <a:spcPct val="88000"/>
              </a:lnSpc>
              <a:buNone/>
            </a:pPr>
            <a:r>
              <a:rPr lang="en-US" sz="3400" b="1" kern="100" spc="-34" dirty="0">
                <a:solidFill>
                  <a:srgbClr val="F4EFE2"/>
                </a:solidFill>
                <a:latin typeface="Bitter Bold" pitchFamily="34" charset="0"/>
                <a:ea typeface="Bitter Bold" pitchFamily="34" charset="-122"/>
                <a:cs typeface="Bitter Bold" pitchFamily="34" charset="-120"/>
              </a:rPr>
              <a:t>India’s reported e-waste generation is rising</a:t>
            </a:r>
            <a:endParaRPr lang="en-US" sz="3400" dirty="0"/>
          </a:p>
        </p:txBody>
      </p:sp>
      <p:pic>
        <p:nvPicPr>
          <p:cNvPr id="3" name="Image 0" descr="preencoded.png"/>
          <p:cNvPicPr>
            <a:picLocks noChangeAspect="1"/>
          </p:cNvPicPr>
          <p:nvPr/>
        </p:nvPicPr>
        <p:blipFill>
          <a:blip r:embed="rId3"/>
          <a:stretch>
            <a:fillRect/>
          </a:stretch>
        </p:blipFill>
        <p:spPr>
          <a:xfrm>
            <a:off x="457189" y="1135955"/>
            <a:ext cx="6583495" cy="2405559"/>
          </a:xfrm>
          <a:prstGeom prst="rect">
            <a:avLst/>
          </a:prstGeom>
        </p:spPr>
      </p:pic>
      <p:sp>
        <p:nvSpPr>
          <p:cNvPr id="4" name="Text 1"/>
          <p:cNvSpPr/>
          <p:nvPr/>
        </p:nvSpPr>
        <p:spPr>
          <a:xfrm>
            <a:off x="7345377" y="1157228"/>
            <a:ext cx="4389129" cy="782241"/>
          </a:xfrm>
          <a:prstGeom prst="rect">
            <a:avLst/>
          </a:prstGeom>
          <a:noFill/>
          <a:ln/>
        </p:spPr>
        <p:txBody>
          <a:bodyPr wrap="square" lIns="0" tIns="0" rIns="0" bIns="0" rtlCol="0" anchor="t">
            <a:normAutofit/>
          </a:bodyPr>
          <a:lstStyle/>
          <a:p>
            <a:pPr marL="0" indent="0" algn="l">
              <a:lnSpc>
                <a:spcPct val="117000"/>
              </a:lnSpc>
              <a:buNone/>
            </a:pPr>
            <a:r>
              <a:rPr lang="en-US" sz="2200" kern="100" spc="11" dirty="0">
                <a:solidFill>
                  <a:srgbClr val="F4EFE2"/>
                </a:solidFill>
                <a:latin typeface="Andika" pitchFamily="34" charset="0"/>
                <a:ea typeface="Andika" pitchFamily="34" charset="-122"/>
                <a:cs typeface="Andika" pitchFamily="34" charset="-120"/>
              </a:rPr>
              <a:t>Increase: about 143,669 metric tonnes in one financial year.</a:t>
            </a:r>
            <a:endParaRPr lang="en-US" sz="2200" dirty="0"/>
          </a:p>
        </p:txBody>
      </p:sp>
      <p:sp>
        <p:nvSpPr>
          <p:cNvPr id="5" name="Text 2"/>
          <p:cNvSpPr/>
          <p:nvPr/>
        </p:nvSpPr>
        <p:spPr>
          <a:xfrm>
            <a:off x="7345377" y="2078216"/>
            <a:ext cx="4389129" cy="274241"/>
          </a:xfrm>
          <a:prstGeom prst="rect">
            <a:avLst/>
          </a:prstGeom>
          <a:noFill/>
          <a:ln/>
        </p:spPr>
        <p:txBody>
          <a:bodyPr wrap="none" lIns="0" tIns="0" rIns="0" bIns="0" rtlCol="0" anchor="t"/>
          <a:lstStyle/>
          <a:p>
            <a:pPr marL="0" indent="0" algn="l">
              <a:lnSpc>
                <a:spcPct val="100000"/>
              </a:lnSpc>
              <a:buNone/>
            </a:pPr>
            <a:r>
              <a:rPr lang="en-US" sz="1800" b="1" kern="100" spc="144" dirty="0">
                <a:solidFill>
                  <a:srgbClr val="5CC8F0"/>
                </a:solidFill>
                <a:latin typeface="Andika Bold" pitchFamily="34" charset="0"/>
                <a:ea typeface="Andika Bold" pitchFamily="34" charset="-122"/>
                <a:cs typeface="Andika Bold" pitchFamily="34" charset="-120"/>
              </a:rPr>
              <a:t>FY 2023–24</a:t>
            </a:r>
            <a:endParaRPr lang="en-US" sz="1800" dirty="0"/>
          </a:p>
        </p:txBody>
      </p:sp>
      <p:sp>
        <p:nvSpPr>
          <p:cNvPr id="6" name="Text 3"/>
          <p:cNvSpPr/>
          <p:nvPr/>
        </p:nvSpPr>
        <p:spPr>
          <a:xfrm>
            <a:off x="7345377" y="2480409"/>
            <a:ext cx="4389129" cy="391120"/>
          </a:xfrm>
          <a:prstGeom prst="rect">
            <a:avLst/>
          </a:prstGeom>
          <a:noFill/>
          <a:ln/>
        </p:spPr>
        <p:txBody>
          <a:bodyPr wrap="none" lIns="0" tIns="0" rIns="0" bIns="0" rtlCol="0" anchor="t"/>
          <a:lstStyle/>
          <a:p>
            <a:pPr marL="0" indent="0" algn="l">
              <a:lnSpc>
                <a:spcPct val="117000"/>
              </a:lnSpc>
              <a:buNone/>
            </a:pPr>
            <a:r>
              <a:rPr lang="en-US" sz="2200" b="1" dirty="0">
                <a:solidFill>
                  <a:srgbClr val="F4EFE2"/>
                </a:solidFill>
                <a:latin typeface="Andika Bold" pitchFamily="34" charset="0"/>
                <a:ea typeface="Andika Bold" pitchFamily="34" charset="-122"/>
                <a:cs typeface="Andika Bold" pitchFamily="34" charset="-120"/>
              </a:rPr>
              <a:t>1,254,286.55 metric tonnes</a:t>
            </a:r>
            <a:endParaRPr lang="en-US" sz="2200" dirty="0"/>
          </a:p>
        </p:txBody>
      </p:sp>
      <p:sp>
        <p:nvSpPr>
          <p:cNvPr id="7" name="Text 4"/>
          <p:cNvSpPr/>
          <p:nvPr/>
        </p:nvSpPr>
        <p:spPr>
          <a:xfrm>
            <a:off x="7345377" y="3010277"/>
            <a:ext cx="4389129" cy="274241"/>
          </a:xfrm>
          <a:prstGeom prst="rect">
            <a:avLst/>
          </a:prstGeom>
          <a:noFill/>
          <a:ln/>
        </p:spPr>
        <p:txBody>
          <a:bodyPr wrap="none" lIns="0" tIns="0" rIns="0" bIns="0" rtlCol="0" anchor="t"/>
          <a:lstStyle/>
          <a:p>
            <a:pPr marL="0" indent="0" algn="l">
              <a:lnSpc>
                <a:spcPct val="100000"/>
              </a:lnSpc>
              <a:buNone/>
            </a:pPr>
            <a:r>
              <a:rPr lang="en-US" sz="1800" b="1" kern="100" spc="144" dirty="0">
                <a:solidFill>
                  <a:srgbClr val="5CC8F0"/>
                </a:solidFill>
                <a:latin typeface="Andika Bold" pitchFamily="34" charset="0"/>
                <a:ea typeface="Andika Bold" pitchFamily="34" charset="-122"/>
                <a:cs typeface="Andika Bold" pitchFamily="34" charset="-120"/>
              </a:rPr>
              <a:t>FY 2024–25</a:t>
            </a:r>
            <a:endParaRPr lang="en-US" sz="1800" dirty="0"/>
          </a:p>
        </p:txBody>
      </p:sp>
      <p:sp>
        <p:nvSpPr>
          <p:cNvPr id="8" name="Text 5"/>
          <p:cNvSpPr/>
          <p:nvPr/>
        </p:nvSpPr>
        <p:spPr>
          <a:xfrm>
            <a:off x="7345377" y="3412470"/>
            <a:ext cx="4389129" cy="391120"/>
          </a:xfrm>
          <a:prstGeom prst="rect">
            <a:avLst/>
          </a:prstGeom>
          <a:noFill/>
          <a:ln/>
        </p:spPr>
        <p:txBody>
          <a:bodyPr wrap="none" lIns="0" tIns="0" rIns="0" bIns="0" rtlCol="0" anchor="t"/>
          <a:lstStyle/>
          <a:p>
            <a:pPr marL="0" indent="0" algn="l">
              <a:lnSpc>
                <a:spcPct val="117000"/>
              </a:lnSpc>
              <a:buNone/>
            </a:pPr>
            <a:r>
              <a:rPr lang="en-US" sz="2200" b="1" dirty="0">
                <a:solidFill>
                  <a:srgbClr val="F4EFE2"/>
                </a:solidFill>
                <a:latin typeface="Andika Bold" pitchFamily="34" charset="0"/>
                <a:ea typeface="Andika Bold" pitchFamily="34" charset="-122"/>
                <a:cs typeface="Andika Bold" pitchFamily="34" charset="-120"/>
              </a:rPr>
              <a:t>1,397,955.59 metric tonnes</a:t>
            </a:r>
            <a:endParaRPr lang="en-US" sz="2200" dirty="0"/>
          </a:p>
        </p:txBody>
      </p:sp>
      <p:sp>
        <p:nvSpPr>
          <p:cNvPr id="9" name="Text 6"/>
          <p:cNvSpPr/>
          <p:nvPr/>
        </p:nvSpPr>
        <p:spPr>
          <a:xfrm>
            <a:off x="457189" y="4009330"/>
            <a:ext cx="11277318" cy="571500"/>
          </a:xfrm>
          <a:prstGeom prst="rect">
            <a:avLst/>
          </a:prstGeom>
          <a:noFill/>
          <a:ln/>
        </p:spPr>
        <p:txBody>
          <a:bodyPr wrap="square" lIns="0" tIns="0" rIns="0" bIns="0" rtlCol="0" anchor="t">
            <a:normAutofit/>
          </a:bodyPr>
          <a:lstStyle/>
          <a:p>
            <a:pPr marL="0" indent="0" algn="l">
              <a:lnSpc>
                <a:spcPct val="104000"/>
              </a:lnSpc>
              <a:buNone/>
            </a:pPr>
            <a:r>
              <a:rPr lang="en-US" sz="1800" dirty="0">
                <a:solidFill>
                  <a:srgbClr val="BFC3DD"/>
                </a:solidFill>
                <a:latin typeface="Andika" pitchFamily="34" charset="0"/>
                <a:ea typeface="Andika" pitchFamily="34" charset="-122"/>
                <a:cs typeface="Andika" pitchFamily="34" charset="-120"/>
              </a:rPr>
              <a:t>Source: Government of India, Press Information Bureau, 24 July 2025 — https://www.pib.gov.in/PressReleasePage.aspx?PRID=2147876&amp;lang=2&amp;reg=3</a:t>
            </a:r>
            <a:endParaRPr lang="en-US" sz="1800" dirty="0"/>
          </a:p>
        </p:txBody>
      </p:sp>
      <p:sp>
        <p:nvSpPr>
          <p:cNvPr id="10" name="Text 7"/>
          <p:cNvSpPr/>
          <p:nvPr/>
        </p:nvSpPr>
        <p:spPr>
          <a:xfrm>
            <a:off x="457189" y="4781490"/>
            <a:ext cx="11734506" cy="391120"/>
          </a:xfrm>
          <a:prstGeom prst="rect">
            <a:avLst/>
          </a:prstGeom>
          <a:noFill/>
          <a:ln/>
        </p:spPr>
        <p:txBody>
          <a:bodyPr wrap="none" lIns="0" tIns="0" rIns="0" bIns="0" rtlCol="0" anchor="t"/>
          <a:lstStyle/>
          <a:p>
            <a:pPr marL="0" indent="0" algn="l">
              <a:lnSpc>
                <a:spcPct val="117000"/>
              </a:lnSpc>
              <a:buNone/>
            </a:pPr>
            <a:r>
              <a:rPr lang="en-US" sz="2200" b="1" dirty="0">
                <a:solidFill>
                  <a:srgbClr val="F4EFE2"/>
                </a:solidFill>
                <a:latin typeface="Andika Bold" pitchFamily="34" charset="0"/>
                <a:ea typeface="Andika Bold" pitchFamily="34" charset="-122"/>
                <a:cs typeface="Andika Bold" pitchFamily="34" charset="-120"/>
              </a:rPr>
              <a:t>Important:</a:t>
            </a:r>
            <a:r>
              <a:rPr lang="en-US" sz="2200" dirty="0">
                <a:solidFill>
                  <a:srgbClr val="F4EFE2"/>
                </a:solidFill>
                <a:latin typeface="Andika" pitchFamily="34" charset="0"/>
                <a:ea typeface="Andika" pitchFamily="34" charset="-122"/>
                <a:cs typeface="Andika" pitchFamily="34" charset="-120"/>
              </a:rPr>
              <a:t> these are generation estimates, not collection or recycling rates.</a:t>
            </a:r>
            <a:endParaRPr lang="en-US" sz="2200" dirty="0"/>
          </a:p>
        </p:txBody>
      </p:sp>
      <p:sp>
        <p:nvSpPr>
          <p:cNvPr id="15" name="Rectangle 14">
            <a:extLst>
              <a:ext uri="{FF2B5EF4-FFF2-40B4-BE49-F238E27FC236}">
                <a16:creationId xmlns:a16="http://schemas.microsoft.com/office/drawing/2014/main" id="{DBB088C6-7B82-7B41-786D-772A7D492085}"/>
              </a:ext>
            </a:extLst>
          </p:cNvPr>
          <p:cNvSpPr/>
          <p:nvPr/>
        </p:nvSpPr>
        <p:spPr>
          <a:xfrm>
            <a:off x="10217020" y="5649459"/>
            <a:ext cx="1909360" cy="1166327"/>
          </a:xfrm>
          <a:prstGeom prst="rect">
            <a:avLst/>
          </a:prstGeom>
          <a:solidFill>
            <a:srgbClr val="141B45"/>
          </a:solidFill>
          <a:ln>
            <a:solidFill>
              <a:srgbClr val="141B4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189" y="483870"/>
            <a:ext cx="7365816" cy="274241"/>
          </a:xfrm>
          <a:prstGeom prst="rect">
            <a:avLst/>
          </a:prstGeom>
          <a:noFill/>
          <a:ln/>
        </p:spPr>
        <p:txBody>
          <a:bodyPr wrap="none" lIns="0" tIns="0" rIns="0" bIns="0" rtlCol="0" anchor="t"/>
          <a:lstStyle/>
          <a:p>
            <a:pPr marL="0" indent="0" algn="l">
              <a:lnSpc>
                <a:spcPct val="100000"/>
              </a:lnSpc>
              <a:buNone/>
            </a:pPr>
            <a:r>
              <a:rPr lang="en-US" sz="1800" b="1" kern="100" spc="144" dirty="0">
                <a:solidFill>
                  <a:srgbClr val="5CC8F0"/>
                </a:solidFill>
                <a:latin typeface="Andika Bold" pitchFamily="34" charset="0"/>
                <a:ea typeface="Andika Bold" pitchFamily="34" charset="-122"/>
                <a:cs typeface="Andika Bold" pitchFamily="34" charset="-120"/>
              </a:rPr>
              <a:t>WHY IT MATTERS</a:t>
            </a:r>
            <a:endParaRPr lang="en-US" sz="1800" dirty="0"/>
          </a:p>
        </p:txBody>
      </p:sp>
      <p:sp>
        <p:nvSpPr>
          <p:cNvPr id="3" name="Text 1"/>
          <p:cNvSpPr/>
          <p:nvPr/>
        </p:nvSpPr>
        <p:spPr>
          <a:xfrm>
            <a:off x="457189" y="868283"/>
            <a:ext cx="6908627" cy="1920180"/>
          </a:xfrm>
          <a:prstGeom prst="rect">
            <a:avLst/>
          </a:prstGeom>
          <a:noFill/>
          <a:ln/>
        </p:spPr>
        <p:txBody>
          <a:bodyPr wrap="square" lIns="0" tIns="0" rIns="0" bIns="0" rtlCol="0" anchor="t">
            <a:normAutofit lnSpcReduction="10000"/>
          </a:bodyPr>
          <a:lstStyle/>
          <a:p>
            <a:pPr marL="0" indent="0" algn="l">
              <a:lnSpc>
                <a:spcPct val="88000"/>
              </a:lnSpc>
              <a:buNone/>
            </a:pPr>
            <a:r>
              <a:rPr lang="en-US" sz="4800" b="1" kern="100" spc="-48" dirty="0">
                <a:solidFill>
                  <a:srgbClr val="F4EFE2"/>
                </a:solidFill>
                <a:latin typeface="Bitter Bold" pitchFamily="34" charset="0"/>
                <a:ea typeface="Bitter Bold" pitchFamily="34" charset="-122"/>
                <a:cs typeface="Bitter Bold" pitchFamily="34" charset="-120"/>
              </a:rPr>
              <a:t>Unsafe handling turns old electronics into a wider risk</a:t>
            </a:r>
            <a:endParaRPr lang="en-US" sz="4800" dirty="0"/>
          </a:p>
        </p:txBody>
      </p:sp>
      <p:sp>
        <p:nvSpPr>
          <p:cNvPr id="4" name="Text 2"/>
          <p:cNvSpPr/>
          <p:nvPr/>
        </p:nvSpPr>
        <p:spPr>
          <a:xfrm>
            <a:off x="457189" y="2969121"/>
            <a:ext cx="6908627" cy="2443063"/>
          </a:xfrm>
          <a:prstGeom prst="rect">
            <a:avLst/>
          </a:prstGeom>
          <a:noFill/>
          <a:ln/>
        </p:spPr>
        <p:txBody>
          <a:bodyPr wrap="square" lIns="0" tIns="0" rIns="0" bIns="0" rtlCol="0" anchor="t">
            <a:normAutofit/>
          </a:bodyPr>
          <a:lstStyle/>
          <a:p>
            <a:pPr marL="0" indent="0" algn="l">
              <a:lnSpc>
                <a:spcPct val="117000"/>
              </a:lnSpc>
              <a:spcAft>
                <a:spcPts val="1550"/>
              </a:spcAft>
              <a:buNone/>
            </a:pPr>
            <a:r>
              <a:rPr lang="en-US" sz="1800" b="1" dirty="0">
                <a:solidFill>
                  <a:srgbClr val="F4EFE2"/>
                </a:solidFill>
                <a:latin typeface="Andika Bold" pitchFamily="34" charset="0"/>
                <a:ea typeface="Andika Bold" pitchFamily="34" charset="-122"/>
                <a:cs typeface="Andika Bold" pitchFamily="34" charset="-120"/>
              </a:rPr>
              <a:t>Improper disposal → Wider exposure:</a:t>
            </a:r>
            <a:r>
              <a:rPr lang="en-US" sz="1800" dirty="0">
                <a:solidFill>
                  <a:srgbClr val="F4EFE2"/>
                </a:solidFill>
                <a:latin typeface="Andika" pitchFamily="34" charset="0"/>
                <a:ea typeface="Andika" pitchFamily="34" charset="-122"/>
                <a:cs typeface="Andika" pitchFamily="34" charset="-120"/>
              </a:rPr>
              <a:t> Improper processing may contaminate soil, water, and air; informal dismantling and burning can expose workers and nearby communities to hazardous substances.</a:t>
            </a:r>
            <a:endParaRPr lang="en-US" sz="1800" dirty="0"/>
          </a:p>
          <a:p>
            <a:pPr marL="0" indent="0" algn="l">
              <a:lnSpc>
                <a:spcPct val="117000"/>
              </a:lnSpc>
              <a:buNone/>
            </a:pPr>
            <a:r>
              <a:rPr lang="en-US" sz="1800" b="1" dirty="0">
                <a:solidFill>
                  <a:srgbClr val="F4EFE2"/>
                </a:solidFill>
                <a:latin typeface="Andika Bold" pitchFamily="34" charset="0"/>
                <a:ea typeface="Andika Bold" pitchFamily="34" charset="-122"/>
                <a:cs typeface="Andika Bold" pitchFamily="34" charset="-120"/>
              </a:rPr>
              <a:t>Responsible recovery:</a:t>
            </a:r>
            <a:r>
              <a:rPr lang="en-US" sz="1800" dirty="0">
                <a:solidFill>
                  <a:srgbClr val="F4EFE2"/>
                </a:solidFill>
                <a:latin typeface="Andika" pitchFamily="34" charset="0"/>
                <a:ea typeface="Andika" pitchFamily="34" charset="-122"/>
                <a:cs typeface="Andika" pitchFamily="34" charset="-120"/>
              </a:rPr>
              <a:t> Electronics contain valuable materials. Responsible collection and recycling help reduce environmental harm and preserve recoverable resources.</a:t>
            </a:r>
            <a:endParaRPr lang="en-US" sz="1800" dirty="0"/>
          </a:p>
        </p:txBody>
      </p:sp>
      <p:sp>
        <p:nvSpPr>
          <p:cNvPr id="5" name="Text 3"/>
          <p:cNvSpPr/>
          <p:nvPr/>
        </p:nvSpPr>
        <p:spPr>
          <a:xfrm>
            <a:off x="457189" y="5639197"/>
            <a:ext cx="6908627" cy="571500"/>
          </a:xfrm>
          <a:prstGeom prst="rect">
            <a:avLst/>
          </a:prstGeom>
          <a:noFill/>
          <a:ln/>
        </p:spPr>
        <p:txBody>
          <a:bodyPr wrap="square" lIns="0" tIns="0" rIns="0" bIns="0" rtlCol="0" anchor="t">
            <a:normAutofit/>
          </a:bodyPr>
          <a:lstStyle/>
          <a:p>
            <a:pPr marL="0" indent="0" algn="l">
              <a:lnSpc>
                <a:spcPct val="104000"/>
              </a:lnSpc>
              <a:buNone/>
            </a:pPr>
            <a:r>
              <a:rPr lang="en-US" sz="1800" dirty="0">
                <a:solidFill>
                  <a:srgbClr val="BFC3DD"/>
                </a:solidFill>
                <a:latin typeface="Andika" pitchFamily="34" charset="0"/>
                <a:ea typeface="Andika" pitchFamily="34" charset="-122"/>
                <a:cs typeface="Andika" pitchFamily="34" charset="-120"/>
              </a:rPr>
              <a:t>Use cautious, evidence-based language; no disease statistics or unsupported numerical claims.</a:t>
            </a:r>
            <a:endParaRPr lang="en-US" sz="1800" dirty="0"/>
          </a:p>
        </p:txBody>
      </p:sp>
      <p:sp>
        <p:nvSpPr>
          <p:cNvPr id="6" name="Shape 4"/>
          <p:cNvSpPr/>
          <p:nvPr/>
        </p:nvSpPr>
        <p:spPr>
          <a:xfrm>
            <a:off x="8280193" y="0"/>
            <a:ext cx="3911502" cy="6858000"/>
          </a:xfrm>
          <a:prstGeom prst="rect">
            <a:avLst/>
          </a:prstGeom>
          <a:noFill/>
          <a:ln w="19050">
            <a:solidFill>
              <a:srgbClr val="F4EFE2"/>
            </a:solidFill>
            <a:prstDash val="solid"/>
          </a:ln>
        </p:spPr>
      </p:sp>
      <p:pic>
        <p:nvPicPr>
          <p:cNvPr id="7" name="Image 0" descr="preencoded.png"/>
          <p:cNvPicPr>
            <a:picLocks noChangeAspect="1"/>
          </p:cNvPicPr>
          <p:nvPr/>
        </p:nvPicPr>
        <p:blipFill>
          <a:blip r:embed="rId3"/>
          <a:stretch>
            <a:fillRect/>
          </a:stretch>
        </p:blipFill>
        <p:spPr>
          <a:xfrm>
            <a:off x="8299242" y="19050"/>
            <a:ext cx="3873403" cy="6819900"/>
          </a:xfrm>
          <a:prstGeom prst="rect">
            <a:avLst/>
          </a:prstGeom>
        </p:spPr>
      </p:pic>
      <p:sp>
        <p:nvSpPr>
          <p:cNvPr id="8" name="Text 5"/>
          <p:cNvSpPr/>
          <p:nvPr/>
        </p:nvSpPr>
        <p:spPr>
          <a:xfrm>
            <a:off x="457189" y="6522740"/>
            <a:ext cx="714059" cy="213320"/>
          </a:xfrm>
          <a:prstGeom prst="rect">
            <a:avLst/>
          </a:prstGeom>
          <a:noFill/>
          <a:ln/>
        </p:spPr>
        <p:txBody>
          <a:bodyPr wrap="none" lIns="0" tIns="0" rIns="0" bIns="0" rtlCol="0" anchor="ctr"/>
          <a:lstStyle/>
          <a:p>
            <a:pPr marL="0" indent="0" algn="l">
              <a:lnSpc>
                <a:spcPct val="117000"/>
              </a:lnSpc>
              <a:buNone/>
            </a:pPr>
            <a:r>
              <a:rPr lang="en-US" sz="1200" b="1" kern="100" spc="96" dirty="0">
                <a:solidFill>
                  <a:srgbClr val="5CC8F0"/>
                </a:solidFill>
                <a:latin typeface="Andika Bold" pitchFamily="34" charset="0"/>
                <a:ea typeface="Andika Bold" pitchFamily="34" charset="-122"/>
                <a:cs typeface="Andika Bold"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189" y="501967"/>
            <a:ext cx="11277318" cy="640060"/>
          </a:xfrm>
          <a:prstGeom prst="rect">
            <a:avLst/>
          </a:prstGeom>
          <a:noFill/>
          <a:ln/>
        </p:spPr>
        <p:txBody>
          <a:bodyPr wrap="none" lIns="0" tIns="0" rIns="0" bIns="0" rtlCol="0" anchor="t"/>
          <a:lstStyle/>
          <a:p>
            <a:pPr marL="0" indent="0" algn="l">
              <a:lnSpc>
                <a:spcPct val="88000"/>
              </a:lnSpc>
              <a:buNone/>
            </a:pPr>
            <a:r>
              <a:rPr lang="en-US" sz="4800" b="1" kern="100" spc="-48" dirty="0">
                <a:solidFill>
                  <a:srgbClr val="F4EFE2"/>
                </a:solidFill>
                <a:latin typeface="Bitter Bold" pitchFamily="34" charset="0"/>
                <a:ea typeface="Bitter Bold" pitchFamily="34" charset="-122"/>
                <a:cs typeface="Bitter Bold" pitchFamily="34" charset="-120"/>
              </a:rPr>
              <a:t>Six actions students can take now</a:t>
            </a:r>
            <a:endParaRPr lang="en-US" sz="4800" dirty="0"/>
          </a:p>
        </p:txBody>
      </p:sp>
      <p:sp>
        <p:nvSpPr>
          <p:cNvPr id="3" name="Shape 1"/>
          <p:cNvSpPr/>
          <p:nvPr/>
        </p:nvSpPr>
        <p:spPr>
          <a:xfrm>
            <a:off x="457189" y="1322685"/>
            <a:ext cx="507987" cy="508000"/>
          </a:xfrm>
          <a:prstGeom prst="ellipse">
            <a:avLst/>
          </a:prstGeom>
          <a:noFill/>
          <a:ln w="25399">
            <a:solidFill>
              <a:srgbClr val="5CC8F0"/>
            </a:solidFill>
            <a:prstDash val="solid"/>
          </a:ln>
        </p:spPr>
      </p:sp>
      <p:sp>
        <p:nvSpPr>
          <p:cNvPr id="4" name="Text 2"/>
          <p:cNvSpPr/>
          <p:nvPr/>
        </p:nvSpPr>
        <p:spPr>
          <a:xfrm>
            <a:off x="557397" y="1449685"/>
            <a:ext cx="917155" cy="254000"/>
          </a:xfrm>
          <a:prstGeom prst="rect">
            <a:avLst/>
          </a:prstGeom>
          <a:noFill/>
          <a:ln/>
        </p:spPr>
        <p:txBody>
          <a:bodyPr wrap="none" lIns="0" tIns="0" rIns="0" bIns="0" rtlCol="0" anchor="t"/>
          <a:lstStyle/>
          <a:p>
            <a:pPr marL="0" indent="0" algn="l">
              <a:lnSpc>
                <a:spcPct val="83000"/>
              </a:lnSpc>
              <a:buNone/>
            </a:pPr>
            <a:r>
              <a:rPr lang="en-US" sz="2000" b="1" dirty="0">
                <a:solidFill>
                  <a:srgbClr val="5CC8F0"/>
                </a:solidFill>
                <a:latin typeface="Andika Bold" pitchFamily="34" charset="0"/>
                <a:ea typeface="Andika Bold" pitchFamily="34" charset="-122"/>
                <a:cs typeface="Andika Bold" pitchFamily="34" charset="-120"/>
              </a:rPr>
              <a:t>01</a:t>
            </a:r>
            <a:endParaRPr lang="en-US" sz="2000" dirty="0"/>
          </a:p>
        </p:txBody>
      </p:sp>
      <p:sp>
        <p:nvSpPr>
          <p:cNvPr id="5" name="Text 3"/>
          <p:cNvSpPr/>
          <p:nvPr/>
        </p:nvSpPr>
        <p:spPr>
          <a:xfrm>
            <a:off x="1168371" y="1388408"/>
            <a:ext cx="4775081" cy="782241"/>
          </a:xfrm>
          <a:prstGeom prst="rect">
            <a:avLst/>
          </a:prstGeom>
          <a:noFill/>
          <a:ln/>
        </p:spPr>
        <p:txBody>
          <a:bodyPr wrap="square" lIns="0" tIns="0" rIns="0" bIns="0" rtlCol="0" anchor="t">
            <a:normAutofit/>
          </a:bodyPr>
          <a:lstStyle/>
          <a:p>
            <a:pPr marL="0" indent="0" algn="l">
              <a:lnSpc>
                <a:spcPct val="117000"/>
              </a:lnSpc>
              <a:buNone/>
            </a:pPr>
            <a:r>
              <a:rPr lang="en-US" sz="2200" dirty="0">
                <a:solidFill>
                  <a:srgbClr val="F4EFE2"/>
                </a:solidFill>
                <a:latin typeface="Andika" pitchFamily="34" charset="0"/>
                <a:ea typeface="Andika" pitchFamily="34" charset="-122"/>
                <a:cs typeface="Andika" pitchFamily="34" charset="-120"/>
              </a:rPr>
              <a:t>Keep e-waste separate from regular household waste.</a:t>
            </a:r>
            <a:endParaRPr lang="en-US" sz="2200" dirty="0"/>
          </a:p>
        </p:txBody>
      </p:sp>
      <p:sp>
        <p:nvSpPr>
          <p:cNvPr id="6" name="Shape 4"/>
          <p:cNvSpPr/>
          <p:nvPr/>
        </p:nvSpPr>
        <p:spPr>
          <a:xfrm>
            <a:off x="6248244" y="1322685"/>
            <a:ext cx="507987" cy="508000"/>
          </a:xfrm>
          <a:prstGeom prst="ellipse">
            <a:avLst/>
          </a:prstGeom>
          <a:noFill/>
          <a:ln w="25399">
            <a:solidFill>
              <a:srgbClr val="5CC8F0"/>
            </a:solidFill>
            <a:prstDash val="solid"/>
          </a:ln>
        </p:spPr>
      </p:sp>
      <p:sp>
        <p:nvSpPr>
          <p:cNvPr id="7" name="Text 5"/>
          <p:cNvSpPr/>
          <p:nvPr/>
        </p:nvSpPr>
        <p:spPr>
          <a:xfrm>
            <a:off x="6348452" y="1449685"/>
            <a:ext cx="917155" cy="254000"/>
          </a:xfrm>
          <a:prstGeom prst="rect">
            <a:avLst/>
          </a:prstGeom>
          <a:noFill/>
          <a:ln/>
        </p:spPr>
        <p:txBody>
          <a:bodyPr wrap="none" lIns="0" tIns="0" rIns="0" bIns="0" rtlCol="0" anchor="t"/>
          <a:lstStyle/>
          <a:p>
            <a:pPr marL="0" indent="0" algn="l">
              <a:lnSpc>
                <a:spcPct val="83000"/>
              </a:lnSpc>
              <a:buNone/>
            </a:pPr>
            <a:r>
              <a:rPr lang="en-US" sz="2000" b="1" dirty="0">
                <a:solidFill>
                  <a:srgbClr val="5CC8F0"/>
                </a:solidFill>
                <a:latin typeface="Andika Bold" pitchFamily="34" charset="0"/>
                <a:ea typeface="Andika Bold" pitchFamily="34" charset="-122"/>
                <a:cs typeface="Andika Bold" pitchFamily="34" charset="-120"/>
              </a:rPr>
              <a:t>02</a:t>
            </a:r>
            <a:endParaRPr lang="en-US" sz="2000" dirty="0"/>
          </a:p>
        </p:txBody>
      </p:sp>
      <p:sp>
        <p:nvSpPr>
          <p:cNvPr id="8" name="Text 6"/>
          <p:cNvSpPr/>
          <p:nvPr/>
        </p:nvSpPr>
        <p:spPr>
          <a:xfrm>
            <a:off x="6959426" y="1388408"/>
            <a:ext cx="4775081" cy="782241"/>
          </a:xfrm>
          <a:prstGeom prst="rect">
            <a:avLst/>
          </a:prstGeom>
          <a:noFill/>
          <a:ln/>
        </p:spPr>
        <p:txBody>
          <a:bodyPr wrap="square" lIns="0" tIns="0" rIns="0" bIns="0" rtlCol="0" anchor="t">
            <a:normAutofit/>
          </a:bodyPr>
          <a:lstStyle/>
          <a:p>
            <a:pPr marL="0" indent="0" algn="l">
              <a:lnSpc>
                <a:spcPct val="117000"/>
              </a:lnSpc>
              <a:buNone/>
            </a:pPr>
            <a:r>
              <a:rPr lang="en-US" sz="2200" dirty="0">
                <a:solidFill>
                  <a:srgbClr val="F4EFE2"/>
                </a:solidFill>
                <a:latin typeface="Andika" pitchFamily="34" charset="0"/>
                <a:ea typeface="Andika" pitchFamily="34" charset="-122"/>
                <a:cs typeface="Andika" pitchFamily="34" charset="-120"/>
              </a:rPr>
              <a:t>Repair, reuse, or donate working devices where appropriate.</a:t>
            </a:r>
            <a:endParaRPr lang="en-US" sz="2200" dirty="0"/>
          </a:p>
        </p:txBody>
      </p:sp>
      <p:sp>
        <p:nvSpPr>
          <p:cNvPr id="9" name="Shape 7"/>
          <p:cNvSpPr/>
          <p:nvPr/>
        </p:nvSpPr>
        <p:spPr>
          <a:xfrm>
            <a:off x="457189" y="2454077"/>
            <a:ext cx="507987" cy="508000"/>
          </a:xfrm>
          <a:prstGeom prst="ellipse">
            <a:avLst/>
          </a:prstGeom>
          <a:noFill/>
          <a:ln w="25399">
            <a:solidFill>
              <a:srgbClr val="5CC8F0"/>
            </a:solidFill>
            <a:prstDash val="solid"/>
          </a:ln>
        </p:spPr>
      </p:sp>
      <p:sp>
        <p:nvSpPr>
          <p:cNvPr id="10" name="Text 8"/>
          <p:cNvSpPr/>
          <p:nvPr/>
        </p:nvSpPr>
        <p:spPr>
          <a:xfrm>
            <a:off x="557397" y="2581077"/>
            <a:ext cx="917155" cy="254000"/>
          </a:xfrm>
          <a:prstGeom prst="rect">
            <a:avLst/>
          </a:prstGeom>
          <a:noFill/>
          <a:ln/>
        </p:spPr>
        <p:txBody>
          <a:bodyPr wrap="none" lIns="0" tIns="0" rIns="0" bIns="0" rtlCol="0" anchor="t"/>
          <a:lstStyle/>
          <a:p>
            <a:pPr marL="0" indent="0" algn="l">
              <a:lnSpc>
                <a:spcPct val="83000"/>
              </a:lnSpc>
              <a:buNone/>
            </a:pPr>
            <a:r>
              <a:rPr lang="en-US" sz="2000" b="1" dirty="0">
                <a:solidFill>
                  <a:srgbClr val="5CC8F0"/>
                </a:solidFill>
                <a:latin typeface="Andika Bold" pitchFamily="34" charset="0"/>
                <a:ea typeface="Andika Bold" pitchFamily="34" charset="-122"/>
                <a:cs typeface="Andika Bold" pitchFamily="34" charset="-120"/>
              </a:rPr>
              <a:t>03</a:t>
            </a:r>
            <a:endParaRPr lang="en-US" sz="2000" dirty="0"/>
          </a:p>
        </p:txBody>
      </p:sp>
      <p:sp>
        <p:nvSpPr>
          <p:cNvPr id="11" name="Text 9"/>
          <p:cNvSpPr/>
          <p:nvPr/>
        </p:nvSpPr>
        <p:spPr>
          <a:xfrm>
            <a:off x="1168371" y="2519799"/>
            <a:ext cx="4775081" cy="782241"/>
          </a:xfrm>
          <a:prstGeom prst="rect">
            <a:avLst/>
          </a:prstGeom>
          <a:noFill/>
          <a:ln/>
        </p:spPr>
        <p:txBody>
          <a:bodyPr wrap="square" lIns="0" tIns="0" rIns="0" bIns="0" rtlCol="0" anchor="t">
            <a:normAutofit/>
          </a:bodyPr>
          <a:lstStyle/>
          <a:p>
            <a:pPr marL="0" indent="0" algn="l">
              <a:lnSpc>
                <a:spcPct val="117000"/>
              </a:lnSpc>
              <a:buNone/>
            </a:pPr>
            <a:r>
              <a:rPr lang="en-US" sz="2200" dirty="0">
                <a:solidFill>
                  <a:srgbClr val="F4EFE2"/>
                </a:solidFill>
                <a:latin typeface="Andika" pitchFamily="34" charset="0"/>
                <a:ea typeface="Andika" pitchFamily="34" charset="-122"/>
                <a:cs typeface="Andika" pitchFamily="34" charset="-120"/>
              </a:rPr>
              <a:t>Delete personal data and securely reset devices before handover.</a:t>
            </a:r>
            <a:endParaRPr lang="en-US" sz="2200" dirty="0"/>
          </a:p>
        </p:txBody>
      </p:sp>
      <p:sp>
        <p:nvSpPr>
          <p:cNvPr id="12" name="Shape 10"/>
          <p:cNvSpPr/>
          <p:nvPr/>
        </p:nvSpPr>
        <p:spPr>
          <a:xfrm>
            <a:off x="6248244" y="2454077"/>
            <a:ext cx="507987" cy="508000"/>
          </a:xfrm>
          <a:prstGeom prst="ellipse">
            <a:avLst/>
          </a:prstGeom>
          <a:noFill/>
          <a:ln w="25399">
            <a:solidFill>
              <a:srgbClr val="5CC8F0"/>
            </a:solidFill>
            <a:prstDash val="solid"/>
          </a:ln>
        </p:spPr>
      </p:sp>
      <p:sp>
        <p:nvSpPr>
          <p:cNvPr id="13" name="Text 11"/>
          <p:cNvSpPr/>
          <p:nvPr/>
        </p:nvSpPr>
        <p:spPr>
          <a:xfrm>
            <a:off x="6348452" y="2581077"/>
            <a:ext cx="917155" cy="254000"/>
          </a:xfrm>
          <a:prstGeom prst="rect">
            <a:avLst/>
          </a:prstGeom>
          <a:noFill/>
          <a:ln/>
        </p:spPr>
        <p:txBody>
          <a:bodyPr wrap="none" lIns="0" tIns="0" rIns="0" bIns="0" rtlCol="0" anchor="t"/>
          <a:lstStyle/>
          <a:p>
            <a:pPr marL="0" indent="0" algn="l">
              <a:lnSpc>
                <a:spcPct val="83000"/>
              </a:lnSpc>
              <a:buNone/>
            </a:pPr>
            <a:r>
              <a:rPr lang="en-US" sz="2000" b="1" dirty="0">
                <a:solidFill>
                  <a:srgbClr val="5CC8F0"/>
                </a:solidFill>
                <a:latin typeface="Andika Bold" pitchFamily="34" charset="0"/>
                <a:ea typeface="Andika Bold" pitchFamily="34" charset="-122"/>
                <a:cs typeface="Andika Bold" pitchFamily="34" charset="-120"/>
              </a:rPr>
              <a:t>04</a:t>
            </a:r>
            <a:endParaRPr lang="en-US" sz="2000" dirty="0"/>
          </a:p>
        </p:txBody>
      </p:sp>
      <p:sp>
        <p:nvSpPr>
          <p:cNvPr id="14" name="Text 12"/>
          <p:cNvSpPr/>
          <p:nvPr/>
        </p:nvSpPr>
        <p:spPr>
          <a:xfrm>
            <a:off x="6959426" y="2519799"/>
            <a:ext cx="4775081" cy="782241"/>
          </a:xfrm>
          <a:prstGeom prst="rect">
            <a:avLst/>
          </a:prstGeom>
          <a:noFill/>
          <a:ln/>
        </p:spPr>
        <p:txBody>
          <a:bodyPr wrap="square" lIns="0" tIns="0" rIns="0" bIns="0" rtlCol="0" anchor="t">
            <a:normAutofit/>
          </a:bodyPr>
          <a:lstStyle/>
          <a:p>
            <a:pPr marL="0" indent="0" algn="l">
              <a:lnSpc>
                <a:spcPct val="117000"/>
              </a:lnSpc>
              <a:buNone/>
            </a:pPr>
            <a:r>
              <a:rPr lang="en-US" sz="2200" dirty="0">
                <a:solidFill>
                  <a:srgbClr val="F4EFE2"/>
                </a:solidFill>
                <a:latin typeface="Andika" pitchFamily="34" charset="0"/>
                <a:ea typeface="Andika" pitchFamily="34" charset="-122"/>
                <a:cs typeface="Andika" pitchFamily="34" charset="-120"/>
              </a:rPr>
              <a:t>Use authorised collection centres or registered recyclers.</a:t>
            </a:r>
            <a:endParaRPr lang="en-US" sz="2200" dirty="0"/>
          </a:p>
        </p:txBody>
      </p:sp>
      <p:sp>
        <p:nvSpPr>
          <p:cNvPr id="15" name="Shape 13"/>
          <p:cNvSpPr/>
          <p:nvPr/>
        </p:nvSpPr>
        <p:spPr>
          <a:xfrm>
            <a:off x="457189" y="3585666"/>
            <a:ext cx="507987" cy="508000"/>
          </a:xfrm>
          <a:prstGeom prst="ellipse">
            <a:avLst/>
          </a:prstGeom>
          <a:noFill/>
          <a:ln w="25399">
            <a:solidFill>
              <a:srgbClr val="5CC8F0"/>
            </a:solidFill>
            <a:prstDash val="solid"/>
          </a:ln>
        </p:spPr>
      </p:sp>
      <p:sp>
        <p:nvSpPr>
          <p:cNvPr id="16" name="Text 14"/>
          <p:cNvSpPr/>
          <p:nvPr/>
        </p:nvSpPr>
        <p:spPr>
          <a:xfrm>
            <a:off x="557397" y="3712666"/>
            <a:ext cx="917155" cy="254000"/>
          </a:xfrm>
          <a:prstGeom prst="rect">
            <a:avLst/>
          </a:prstGeom>
          <a:noFill/>
          <a:ln/>
        </p:spPr>
        <p:txBody>
          <a:bodyPr wrap="none" lIns="0" tIns="0" rIns="0" bIns="0" rtlCol="0" anchor="t"/>
          <a:lstStyle/>
          <a:p>
            <a:pPr marL="0" indent="0" algn="l">
              <a:lnSpc>
                <a:spcPct val="83000"/>
              </a:lnSpc>
              <a:buNone/>
            </a:pPr>
            <a:r>
              <a:rPr lang="en-US" sz="2000" b="1" dirty="0">
                <a:solidFill>
                  <a:srgbClr val="5CC8F0"/>
                </a:solidFill>
                <a:latin typeface="Andika Bold" pitchFamily="34" charset="0"/>
                <a:ea typeface="Andika Bold" pitchFamily="34" charset="-122"/>
                <a:cs typeface="Andika Bold" pitchFamily="34" charset="-120"/>
              </a:rPr>
              <a:t>05</a:t>
            </a:r>
            <a:endParaRPr lang="en-US" sz="2000" dirty="0"/>
          </a:p>
        </p:txBody>
      </p:sp>
      <p:sp>
        <p:nvSpPr>
          <p:cNvPr id="17" name="Text 15"/>
          <p:cNvSpPr/>
          <p:nvPr/>
        </p:nvSpPr>
        <p:spPr>
          <a:xfrm>
            <a:off x="1168371" y="3651389"/>
            <a:ext cx="4775081" cy="782241"/>
          </a:xfrm>
          <a:prstGeom prst="rect">
            <a:avLst/>
          </a:prstGeom>
          <a:noFill/>
          <a:ln/>
        </p:spPr>
        <p:txBody>
          <a:bodyPr wrap="square" lIns="0" tIns="0" rIns="0" bIns="0" rtlCol="0" anchor="t">
            <a:normAutofit/>
          </a:bodyPr>
          <a:lstStyle/>
          <a:p>
            <a:pPr marL="0" indent="0" algn="l">
              <a:lnSpc>
                <a:spcPct val="117000"/>
              </a:lnSpc>
              <a:buNone/>
            </a:pPr>
            <a:r>
              <a:rPr lang="en-US" sz="2200" dirty="0">
                <a:solidFill>
                  <a:srgbClr val="F4EFE2"/>
                </a:solidFill>
                <a:latin typeface="Andika" pitchFamily="34" charset="0"/>
                <a:ea typeface="Andika" pitchFamily="34" charset="-122"/>
                <a:cs typeface="Andika" pitchFamily="34" charset="-120"/>
              </a:rPr>
              <a:t>Never burn electronics or dismantle hazardous components at home.</a:t>
            </a:r>
            <a:endParaRPr lang="en-US" sz="2200" dirty="0"/>
          </a:p>
        </p:txBody>
      </p:sp>
      <p:sp>
        <p:nvSpPr>
          <p:cNvPr id="18" name="Shape 16"/>
          <p:cNvSpPr/>
          <p:nvPr/>
        </p:nvSpPr>
        <p:spPr>
          <a:xfrm>
            <a:off x="6248244" y="3585666"/>
            <a:ext cx="507987" cy="508000"/>
          </a:xfrm>
          <a:prstGeom prst="ellipse">
            <a:avLst/>
          </a:prstGeom>
          <a:noFill/>
          <a:ln w="25399">
            <a:solidFill>
              <a:srgbClr val="5CC8F0"/>
            </a:solidFill>
            <a:prstDash val="solid"/>
          </a:ln>
        </p:spPr>
      </p:sp>
      <p:sp>
        <p:nvSpPr>
          <p:cNvPr id="19" name="Text 17"/>
          <p:cNvSpPr/>
          <p:nvPr/>
        </p:nvSpPr>
        <p:spPr>
          <a:xfrm>
            <a:off x="6348452" y="3712666"/>
            <a:ext cx="917155" cy="254000"/>
          </a:xfrm>
          <a:prstGeom prst="rect">
            <a:avLst/>
          </a:prstGeom>
          <a:noFill/>
          <a:ln/>
        </p:spPr>
        <p:txBody>
          <a:bodyPr wrap="none" lIns="0" tIns="0" rIns="0" bIns="0" rtlCol="0" anchor="t"/>
          <a:lstStyle/>
          <a:p>
            <a:pPr marL="0" indent="0" algn="l">
              <a:lnSpc>
                <a:spcPct val="83000"/>
              </a:lnSpc>
              <a:buNone/>
            </a:pPr>
            <a:r>
              <a:rPr lang="en-US" sz="2000" b="1" dirty="0">
                <a:solidFill>
                  <a:srgbClr val="5CC8F0"/>
                </a:solidFill>
                <a:latin typeface="Andika Bold" pitchFamily="34" charset="0"/>
                <a:ea typeface="Andika Bold" pitchFamily="34" charset="-122"/>
                <a:cs typeface="Andika Bold" pitchFamily="34" charset="-120"/>
              </a:rPr>
              <a:t>06</a:t>
            </a:r>
            <a:endParaRPr lang="en-US" sz="2000" dirty="0"/>
          </a:p>
        </p:txBody>
      </p:sp>
      <p:sp>
        <p:nvSpPr>
          <p:cNvPr id="20" name="Text 18"/>
          <p:cNvSpPr/>
          <p:nvPr/>
        </p:nvSpPr>
        <p:spPr>
          <a:xfrm>
            <a:off x="6959426" y="3651389"/>
            <a:ext cx="4775081" cy="782241"/>
          </a:xfrm>
          <a:prstGeom prst="rect">
            <a:avLst/>
          </a:prstGeom>
          <a:noFill/>
          <a:ln/>
        </p:spPr>
        <p:txBody>
          <a:bodyPr wrap="square" lIns="0" tIns="0" rIns="0" bIns="0" rtlCol="0" anchor="t">
            <a:normAutofit/>
          </a:bodyPr>
          <a:lstStyle/>
          <a:p>
            <a:pPr marL="0" indent="0" algn="l">
              <a:lnSpc>
                <a:spcPct val="117000"/>
              </a:lnSpc>
              <a:buNone/>
            </a:pPr>
            <a:r>
              <a:rPr lang="en-US" sz="2200" dirty="0">
                <a:solidFill>
                  <a:srgbClr val="F4EFE2"/>
                </a:solidFill>
                <a:latin typeface="Andika" pitchFamily="34" charset="0"/>
                <a:ea typeface="Andika" pitchFamily="34" charset="-122"/>
                <a:cs typeface="Andika" pitchFamily="34" charset="-120"/>
              </a:rPr>
              <a:t>Encourage campus e-waste collection and awareness activities.</a:t>
            </a:r>
            <a:endParaRPr lang="en-US" sz="2200" dirty="0"/>
          </a:p>
        </p:txBody>
      </p:sp>
      <p:sp>
        <p:nvSpPr>
          <p:cNvPr id="21" name="Text 19"/>
          <p:cNvSpPr/>
          <p:nvPr/>
        </p:nvSpPr>
        <p:spPr>
          <a:xfrm>
            <a:off x="457189" y="4639370"/>
            <a:ext cx="11734506" cy="285750"/>
          </a:xfrm>
          <a:prstGeom prst="rect">
            <a:avLst/>
          </a:prstGeom>
          <a:noFill/>
          <a:ln/>
        </p:spPr>
        <p:txBody>
          <a:bodyPr wrap="none" lIns="0" tIns="0" rIns="0" bIns="0" rtlCol="0" anchor="t"/>
          <a:lstStyle/>
          <a:p>
            <a:pPr marL="0" indent="0" algn="l">
              <a:lnSpc>
                <a:spcPct val="104000"/>
              </a:lnSpc>
              <a:buNone/>
            </a:pPr>
            <a:r>
              <a:rPr lang="en-US" sz="1800" dirty="0">
                <a:solidFill>
                  <a:srgbClr val="BFC3DD"/>
                </a:solidFill>
                <a:latin typeface="Andika" pitchFamily="34" charset="0"/>
                <a:ea typeface="Andika" pitchFamily="34" charset="-122"/>
                <a:cs typeface="Andika" pitchFamily="34" charset="-120"/>
              </a:rPr>
              <a:t>Reference: Central Pollution Control Board e-waste portal — https://www.eprewaste.cpcb.gov.in/</a:t>
            </a:r>
            <a:endParaRPr lang="en-US" sz="1800" dirty="0"/>
          </a:p>
        </p:txBody>
      </p:sp>
      <p:sp>
        <p:nvSpPr>
          <p:cNvPr id="22" name="Text 20"/>
          <p:cNvSpPr/>
          <p:nvPr/>
        </p:nvSpPr>
        <p:spPr>
          <a:xfrm>
            <a:off x="11630032" y="6522740"/>
            <a:ext cx="561663" cy="213320"/>
          </a:xfrm>
          <a:prstGeom prst="rect">
            <a:avLst/>
          </a:prstGeom>
          <a:noFill/>
          <a:ln/>
        </p:spPr>
        <p:txBody>
          <a:bodyPr wrap="none" lIns="0" tIns="0" rIns="0" bIns="0" rtlCol="0" anchor="ctr"/>
          <a:lstStyle/>
          <a:p>
            <a:pPr marL="0" indent="0" algn="l">
              <a:lnSpc>
                <a:spcPct val="117000"/>
              </a:lnSpc>
              <a:buNone/>
            </a:pPr>
            <a:r>
              <a:rPr lang="en-US" sz="1200" b="1" kern="100" spc="96" dirty="0">
                <a:solidFill>
                  <a:srgbClr val="5CC8F0"/>
                </a:solidFill>
                <a:latin typeface="Andika Bold" pitchFamily="34" charset="0"/>
                <a:ea typeface="Andika Bold" pitchFamily="34" charset="-122"/>
                <a:cs typeface="Andika Bold" pitchFamily="34" charset="-120"/>
              </a:rPr>
              <a:t>4</a:t>
            </a:r>
            <a:endParaRPr lang="en-US" sz="1200" dirty="0"/>
          </a:p>
        </p:txBody>
      </p:sp>
      <p:sp>
        <p:nvSpPr>
          <p:cNvPr id="24" name="Rectangle 23">
            <a:extLst>
              <a:ext uri="{FF2B5EF4-FFF2-40B4-BE49-F238E27FC236}">
                <a16:creationId xmlns:a16="http://schemas.microsoft.com/office/drawing/2014/main" id="{8B22B7C5-61F9-DD3F-93F2-5DF89610ED11}"/>
              </a:ext>
            </a:extLst>
          </p:cNvPr>
          <p:cNvSpPr/>
          <p:nvPr/>
        </p:nvSpPr>
        <p:spPr>
          <a:xfrm>
            <a:off x="10217020" y="5649459"/>
            <a:ext cx="1909360" cy="1166327"/>
          </a:xfrm>
          <a:prstGeom prst="rect">
            <a:avLst/>
          </a:prstGeom>
          <a:solidFill>
            <a:srgbClr val="141B45"/>
          </a:solidFill>
          <a:ln>
            <a:solidFill>
              <a:srgbClr val="141B4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189" y="483870"/>
            <a:ext cx="11734506" cy="274241"/>
          </a:xfrm>
          <a:prstGeom prst="rect">
            <a:avLst/>
          </a:prstGeom>
          <a:noFill/>
          <a:ln/>
        </p:spPr>
        <p:txBody>
          <a:bodyPr wrap="none" lIns="0" tIns="0" rIns="0" bIns="0" rtlCol="0" anchor="t"/>
          <a:lstStyle/>
          <a:p>
            <a:pPr marL="0" indent="0" algn="l">
              <a:lnSpc>
                <a:spcPct val="100000"/>
              </a:lnSpc>
              <a:buNone/>
            </a:pPr>
            <a:r>
              <a:rPr lang="en-US" sz="1800" b="1" kern="100" spc="144" dirty="0">
                <a:solidFill>
                  <a:srgbClr val="5CC8F0"/>
                </a:solidFill>
                <a:latin typeface="Andika Bold" pitchFamily="34" charset="0"/>
                <a:ea typeface="Andika Bold" pitchFamily="34" charset="-122"/>
                <a:cs typeface="Andika Bold" pitchFamily="34" charset="-120"/>
              </a:rPr>
              <a:t>THE OUTPUT</a:t>
            </a:r>
            <a:endParaRPr lang="en-US" sz="1800" dirty="0"/>
          </a:p>
        </p:txBody>
      </p:sp>
      <p:sp>
        <p:nvSpPr>
          <p:cNvPr id="3" name="Text 1"/>
          <p:cNvSpPr/>
          <p:nvPr/>
        </p:nvSpPr>
        <p:spPr>
          <a:xfrm>
            <a:off x="457189" y="868283"/>
            <a:ext cx="11277318" cy="1280120"/>
          </a:xfrm>
          <a:prstGeom prst="rect">
            <a:avLst/>
          </a:prstGeom>
          <a:noFill/>
          <a:ln/>
        </p:spPr>
        <p:txBody>
          <a:bodyPr wrap="square" lIns="0" tIns="0" rIns="0" bIns="0" rtlCol="0" anchor="t">
            <a:normAutofit lnSpcReduction="10000"/>
          </a:bodyPr>
          <a:lstStyle/>
          <a:p>
            <a:pPr marL="0" indent="0" algn="l">
              <a:lnSpc>
                <a:spcPct val="88000"/>
              </a:lnSpc>
              <a:buNone/>
            </a:pPr>
            <a:r>
              <a:rPr lang="en-US" sz="4800" b="1" kern="100" spc="-48" dirty="0">
                <a:solidFill>
                  <a:srgbClr val="F4EFE2"/>
                </a:solidFill>
                <a:latin typeface="Bitter Bold" pitchFamily="34" charset="0"/>
                <a:ea typeface="Bitter Bold" pitchFamily="34" charset="-122"/>
                <a:cs typeface="Bitter Bold" pitchFamily="34" charset="-120"/>
              </a:rPr>
              <a:t>Three infographics, one coordinated message</a:t>
            </a:r>
            <a:endParaRPr lang="en-US" sz="4800" dirty="0"/>
          </a:p>
        </p:txBody>
      </p:sp>
      <p:sp>
        <p:nvSpPr>
          <p:cNvPr id="19" name="Text 17"/>
          <p:cNvSpPr/>
          <p:nvPr/>
        </p:nvSpPr>
        <p:spPr>
          <a:xfrm>
            <a:off x="11630032" y="6522740"/>
            <a:ext cx="561663" cy="213320"/>
          </a:xfrm>
          <a:prstGeom prst="rect">
            <a:avLst/>
          </a:prstGeom>
          <a:noFill/>
          <a:ln/>
        </p:spPr>
        <p:txBody>
          <a:bodyPr wrap="none" lIns="0" tIns="0" rIns="0" bIns="0" rtlCol="0" anchor="ctr"/>
          <a:lstStyle/>
          <a:p>
            <a:pPr marL="0" indent="0" algn="l">
              <a:lnSpc>
                <a:spcPct val="117000"/>
              </a:lnSpc>
              <a:buNone/>
            </a:pPr>
            <a:r>
              <a:rPr lang="en-US" sz="1200" b="1" kern="100" spc="96" dirty="0">
                <a:solidFill>
                  <a:srgbClr val="5CC8F0"/>
                </a:solidFill>
                <a:latin typeface="Andika Bold" pitchFamily="34" charset="0"/>
                <a:ea typeface="Andika Bold" pitchFamily="34" charset="-122"/>
                <a:cs typeface="Andika Bold" pitchFamily="34" charset="-120"/>
              </a:rPr>
              <a:t>5</a:t>
            </a:r>
            <a:endParaRPr lang="en-US" sz="1200" dirty="0"/>
          </a:p>
        </p:txBody>
      </p:sp>
      <p:sp>
        <p:nvSpPr>
          <p:cNvPr id="21" name="Rectangle 20">
            <a:extLst>
              <a:ext uri="{FF2B5EF4-FFF2-40B4-BE49-F238E27FC236}">
                <a16:creationId xmlns:a16="http://schemas.microsoft.com/office/drawing/2014/main" id="{3097D60F-8168-847C-61A6-FAB636E59893}"/>
              </a:ext>
            </a:extLst>
          </p:cNvPr>
          <p:cNvSpPr/>
          <p:nvPr/>
        </p:nvSpPr>
        <p:spPr>
          <a:xfrm>
            <a:off x="10627566" y="6331404"/>
            <a:ext cx="1498813" cy="484381"/>
          </a:xfrm>
          <a:prstGeom prst="rect">
            <a:avLst/>
          </a:prstGeom>
          <a:solidFill>
            <a:srgbClr val="141B45"/>
          </a:solidFill>
          <a:ln>
            <a:solidFill>
              <a:srgbClr val="141B4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2" name="Picture 21">
            <a:extLst>
              <a:ext uri="{FF2B5EF4-FFF2-40B4-BE49-F238E27FC236}">
                <a16:creationId xmlns:a16="http://schemas.microsoft.com/office/drawing/2014/main" id="{AAFC5A56-E246-05A4-8567-026788A2BEF8}"/>
              </a:ext>
            </a:extLst>
          </p:cNvPr>
          <p:cNvPicPr>
            <a:picLocks noChangeAspect="1"/>
          </p:cNvPicPr>
          <p:nvPr/>
        </p:nvPicPr>
        <p:blipFill>
          <a:blip r:embed="rId3"/>
          <a:srcRect/>
          <a:stretch/>
        </p:blipFill>
        <p:spPr>
          <a:xfrm>
            <a:off x="619413" y="2056363"/>
            <a:ext cx="2833356" cy="4250035"/>
          </a:xfrm>
          <a:prstGeom prst="rect">
            <a:avLst/>
          </a:prstGeom>
        </p:spPr>
      </p:pic>
      <p:pic>
        <p:nvPicPr>
          <p:cNvPr id="24" name="Picture 23">
            <a:extLst>
              <a:ext uri="{FF2B5EF4-FFF2-40B4-BE49-F238E27FC236}">
                <a16:creationId xmlns:a16="http://schemas.microsoft.com/office/drawing/2014/main" id="{14AEC769-8869-B011-645F-B802F18495C1}"/>
              </a:ext>
            </a:extLst>
          </p:cNvPr>
          <p:cNvPicPr>
            <a:picLocks noChangeAspect="1"/>
          </p:cNvPicPr>
          <p:nvPr/>
        </p:nvPicPr>
        <p:blipFill>
          <a:blip r:embed="rId4"/>
          <a:srcRect/>
          <a:stretch/>
        </p:blipFill>
        <p:spPr>
          <a:xfrm>
            <a:off x="8431160" y="2056364"/>
            <a:ext cx="2833356" cy="4250035"/>
          </a:xfrm>
          <a:prstGeom prst="rect">
            <a:avLst/>
          </a:prstGeom>
        </p:spPr>
      </p:pic>
      <p:pic>
        <p:nvPicPr>
          <p:cNvPr id="26" name="Picture 25">
            <a:extLst>
              <a:ext uri="{FF2B5EF4-FFF2-40B4-BE49-F238E27FC236}">
                <a16:creationId xmlns:a16="http://schemas.microsoft.com/office/drawing/2014/main" id="{4976843C-04D1-2177-1381-2F4C38A5554B}"/>
              </a:ext>
            </a:extLst>
          </p:cNvPr>
          <p:cNvPicPr>
            <a:picLocks noChangeAspect="1"/>
          </p:cNvPicPr>
          <p:nvPr/>
        </p:nvPicPr>
        <p:blipFill>
          <a:blip r:embed="rId5"/>
          <a:srcRect/>
          <a:stretch/>
        </p:blipFill>
        <p:spPr>
          <a:xfrm>
            <a:off x="4525287" y="2056362"/>
            <a:ext cx="2833356" cy="425003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189" y="483870"/>
            <a:ext cx="11734506" cy="274241"/>
          </a:xfrm>
          <a:prstGeom prst="rect">
            <a:avLst/>
          </a:prstGeom>
          <a:noFill/>
          <a:ln/>
        </p:spPr>
        <p:txBody>
          <a:bodyPr wrap="none" lIns="0" tIns="0" rIns="0" bIns="0" rtlCol="0" anchor="t"/>
          <a:lstStyle/>
          <a:p>
            <a:pPr marL="0" indent="0" algn="l">
              <a:lnSpc>
                <a:spcPct val="100000"/>
              </a:lnSpc>
              <a:buNone/>
            </a:pPr>
            <a:r>
              <a:rPr lang="en-US" sz="1800" b="1" kern="100" spc="144" dirty="0">
                <a:solidFill>
                  <a:srgbClr val="5CC8F0"/>
                </a:solidFill>
                <a:latin typeface="Andika Bold" pitchFamily="34" charset="0"/>
                <a:ea typeface="Andika Bold" pitchFamily="34" charset="-122"/>
                <a:cs typeface="Andika Bold" pitchFamily="34" charset="-120"/>
              </a:rPr>
              <a:t>METHOD</a:t>
            </a:r>
            <a:endParaRPr lang="en-US" sz="1800" dirty="0"/>
          </a:p>
        </p:txBody>
      </p:sp>
      <p:sp>
        <p:nvSpPr>
          <p:cNvPr id="3" name="Text 1"/>
          <p:cNvSpPr/>
          <p:nvPr/>
        </p:nvSpPr>
        <p:spPr>
          <a:xfrm>
            <a:off x="457189" y="868283"/>
            <a:ext cx="11277318" cy="1280120"/>
          </a:xfrm>
          <a:prstGeom prst="rect">
            <a:avLst/>
          </a:prstGeom>
          <a:noFill/>
          <a:ln/>
        </p:spPr>
        <p:txBody>
          <a:bodyPr wrap="square" lIns="0" tIns="0" rIns="0" bIns="0" rtlCol="0" anchor="t">
            <a:normAutofit lnSpcReduction="10000"/>
          </a:bodyPr>
          <a:lstStyle/>
          <a:p>
            <a:pPr marL="0" indent="0" algn="l">
              <a:lnSpc>
                <a:spcPct val="88000"/>
              </a:lnSpc>
              <a:buNone/>
            </a:pPr>
            <a:r>
              <a:rPr lang="en-US" sz="4800" b="1" kern="100" spc="-48" dirty="0">
                <a:solidFill>
                  <a:srgbClr val="F4EFE2"/>
                </a:solidFill>
                <a:latin typeface="Bitter Bold" pitchFamily="34" charset="0"/>
                <a:ea typeface="Bitter Bold" pitchFamily="34" charset="-122"/>
                <a:cs typeface="Bitter Bold" pitchFamily="34" charset="-120"/>
              </a:rPr>
              <a:t>AI helps organize the work; verification stays essential</a:t>
            </a:r>
            <a:endParaRPr lang="en-US" sz="4800" dirty="0"/>
          </a:p>
        </p:txBody>
      </p:sp>
      <p:sp>
        <p:nvSpPr>
          <p:cNvPr id="4" name="Text 2"/>
          <p:cNvSpPr/>
          <p:nvPr/>
        </p:nvSpPr>
        <p:spPr>
          <a:xfrm>
            <a:off x="457189" y="2384921"/>
            <a:ext cx="947912" cy="279400"/>
          </a:xfrm>
          <a:prstGeom prst="rect">
            <a:avLst/>
          </a:prstGeom>
          <a:noFill/>
          <a:ln/>
        </p:spPr>
        <p:txBody>
          <a:bodyPr wrap="none" lIns="0" tIns="0" rIns="0" bIns="0" rtlCol="0" anchor="t"/>
          <a:lstStyle/>
          <a:p>
            <a:pPr marL="0" indent="0" algn="l">
              <a:lnSpc>
                <a:spcPct val="83000"/>
              </a:lnSpc>
              <a:buNone/>
            </a:pPr>
            <a:r>
              <a:rPr lang="en-US" sz="2200" b="1" dirty="0">
                <a:solidFill>
                  <a:srgbClr val="5CC8F0"/>
                </a:solidFill>
                <a:latin typeface="Andika Bold" pitchFamily="34" charset="0"/>
                <a:ea typeface="Andika Bold" pitchFamily="34" charset="-122"/>
                <a:cs typeface="Andika Bold" pitchFamily="34" charset="-120"/>
              </a:rPr>
              <a:t>01</a:t>
            </a:r>
            <a:endParaRPr lang="en-US" sz="2200" dirty="0"/>
          </a:p>
        </p:txBody>
      </p:sp>
      <p:sp>
        <p:nvSpPr>
          <p:cNvPr id="5" name="Text 3"/>
          <p:cNvSpPr/>
          <p:nvPr/>
        </p:nvSpPr>
        <p:spPr>
          <a:xfrm>
            <a:off x="1074909" y="2350333"/>
            <a:ext cx="2125411" cy="391120"/>
          </a:xfrm>
          <a:prstGeom prst="rect">
            <a:avLst/>
          </a:prstGeom>
          <a:noFill/>
          <a:ln/>
        </p:spPr>
        <p:txBody>
          <a:bodyPr wrap="none" lIns="0" tIns="0" rIns="0" bIns="0" rtlCol="0" anchor="t"/>
          <a:lstStyle/>
          <a:p>
            <a:pPr marL="0" indent="0" algn="l">
              <a:lnSpc>
                <a:spcPct val="117000"/>
              </a:lnSpc>
              <a:buNone/>
            </a:pPr>
            <a:r>
              <a:rPr lang="en-US" sz="2200" dirty="0">
                <a:solidFill>
                  <a:srgbClr val="F4EFE2"/>
                </a:solidFill>
                <a:latin typeface="Andika" pitchFamily="34" charset="0"/>
                <a:ea typeface="Andika" pitchFamily="34" charset="-122"/>
                <a:cs typeface="Andika" pitchFamily="34" charset="-120"/>
              </a:rPr>
              <a:t>Topic selection</a:t>
            </a:r>
            <a:endParaRPr lang="en-US" sz="2200" dirty="0"/>
          </a:p>
        </p:txBody>
      </p:sp>
      <p:sp>
        <p:nvSpPr>
          <p:cNvPr id="6" name="Text 4"/>
          <p:cNvSpPr/>
          <p:nvPr/>
        </p:nvSpPr>
        <p:spPr>
          <a:xfrm>
            <a:off x="3352716" y="2384921"/>
            <a:ext cx="947912" cy="279400"/>
          </a:xfrm>
          <a:prstGeom prst="rect">
            <a:avLst/>
          </a:prstGeom>
          <a:noFill/>
          <a:ln/>
        </p:spPr>
        <p:txBody>
          <a:bodyPr wrap="none" lIns="0" tIns="0" rIns="0" bIns="0" rtlCol="0" anchor="t"/>
          <a:lstStyle/>
          <a:p>
            <a:pPr marL="0" indent="0" algn="l">
              <a:lnSpc>
                <a:spcPct val="83000"/>
              </a:lnSpc>
              <a:buNone/>
            </a:pPr>
            <a:r>
              <a:rPr lang="en-US" sz="2200" b="1" dirty="0">
                <a:solidFill>
                  <a:srgbClr val="5CC8F0"/>
                </a:solidFill>
                <a:latin typeface="Andika Bold" pitchFamily="34" charset="0"/>
                <a:ea typeface="Andika Bold" pitchFamily="34" charset="-122"/>
                <a:cs typeface="Andika Bold" pitchFamily="34" charset="-120"/>
              </a:rPr>
              <a:t>02</a:t>
            </a:r>
            <a:endParaRPr lang="en-US" sz="2200" dirty="0"/>
          </a:p>
        </p:txBody>
      </p:sp>
      <p:sp>
        <p:nvSpPr>
          <p:cNvPr id="7" name="Text 5"/>
          <p:cNvSpPr/>
          <p:nvPr/>
        </p:nvSpPr>
        <p:spPr>
          <a:xfrm>
            <a:off x="3970437" y="2350333"/>
            <a:ext cx="2049213" cy="782241"/>
          </a:xfrm>
          <a:prstGeom prst="rect">
            <a:avLst/>
          </a:prstGeom>
          <a:noFill/>
          <a:ln/>
        </p:spPr>
        <p:txBody>
          <a:bodyPr wrap="square" lIns="0" tIns="0" rIns="0" bIns="0" rtlCol="0" anchor="t">
            <a:normAutofit/>
          </a:bodyPr>
          <a:lstStyle/>
          <a:p>
            <a:pPr marL="0" indent="0" algn="l">
              <a:lnSpc>
                <a:spcPct val="117000"/>
              </a:lnSpc>
              <a:buNone/>
            </a:pPr>
            <a:r>
              <a:rPr lang="en-US" sz="2200" dirty="0">
                <a:solidFill>
                  <a:srgbClr val="F4EFE2"/>
                </a:solidFill>
                <a:latin typeface="Andika" pitchFamily="34" charset="0"/>
                <a:ea typeface="Andika" pitchFamily="34" charset="-122"/>
                <a:cs typeface="Andika" pitchFamily="34" charset="-120"/>
              </a:rPr>
              <a:t>AI-assisted research</a:t>
            </a:r>
            <a:endParaRPr lang="en-US" sz="2200" dirty="0"/>
          </a:p>
        </p:txBody>
      </p:sp>
      <p:sp>
        <p:nvSpPr>
          <p:cNvPr id="8" name="Text 6"/>
          <p:cNvSpPr/>
          <p:nvPr/>
        </p:nvSpPr>
        <p:spPr>
          <a:xfrm>
            <a:off x="6172046" y="2384921"/>
            <a:ext cx="947912" cy="279400"/>
          </a:xfrm>
          <a:prstGeom prst="rect">
            <a:avLst/>
          </a:prstGeom>
          <a:noFill/>
          <a:ln/>
        </p:spPr>
        <p:txBody>
          <a:bodyPr wrap="none" lIns="0" tIns="0" rIns="0" bIns="0" rtlCol="0" anchor="t"/>
          <a:lstStyle/>
          <a:p>
            <a:pPr marL="0" indent="0" algn="l">
              <a:lnSpc>
                <a:spcPct val="83000"/>
              </a:lnSpc>
              <a:buNone/>
            </a:pPr>
            <a:r>
              <a:rPr lang="en-US" sz="2200" b="1" dirty="0">
                <a:solidFill>
                  <a:srgbClr val="5CC8F0"/>
                </a:solidFill>
                <a:latin typeface="Andika Bold" pitchFamily="34" charset="0"/>
                <a:ea typeface="Andika Bold" pitchFamily="34" charset="-122"/>
                <a:cs typeface="Andika Bold" pitchFamily="34" charset="-120"/>
              </a:rPr>
              <a:t>03</a:t>
            </a:r>
            <a:endParaRPr lang="en-US" sz="2200" dirty="0"/>
          </a:p>
        </p:txBody>
      </p:sp>
      <p:sp>
        <p:nvSpPr>
          <p:cNvPr id="9" name="Text 7"/>
          <p:cNvSpPr/>
          <p:nvPr/>
        </p:nvSpPr>
        <p:spPr>
          <a:xfrm>
            <a:off x="6789766" y="2350333"/>
            <a:ext cx="2049213" cy="782241"/>
          </a:xfrm>
          <a:prstGeom prst="rect">
            <a:avLst/>
          </a:prstGeom>
          <a:noFill/>
          <a:ln/>
        </p:spPr>
        <p:txBody>
          <a:bodyPr wrap="square" lIns="0" tIns="0" rIns="0" bIns="0" rtlCol="0" anchor="t">
            <a:normAutofit/>
          </a:bodyPr>
          <a:lstStyle/>
          <a:p>
            <a:pPr marL="0" indent="0" algn="l">
              <a:lnSpc>
                <a:spcPct val="117000"/>
              </a:lnSpc>
              <a:buNone/>
            </a:pPr>
            <a:r>
              <a:rPr lang="en-US" sz="2200" dirty="0">
                <a:solidFill>
                  <a:srgbClr val="F4EFE2"/>
                </a:solidFill>
                <a:latin typeface="Andika" pitchFamily="34" charset="0"/>
                <a:ea typeface="Andika" pitchFamily="34" charset="-122"/>
                <a:cs typeface="Andika" pitchFamily="34" charset="-120"/>
              </a:rPr>
              <a:t>Official-source verification</a:t>
            </a:r>
            <a:endParaRPr lang="en-US" sz="2200" dirty="0"/>
          </a:p>
        </p:txBody>
      </p:sp>
      <p:sp>
        <p:nvSpPr>
          <p:cNvPr id="10" name="Text 8"/>
          <p:cNvSpPr/>
          <p:nvPr/>
        </p:nvSpPr>
        <p:spPr>
          <a:xfrm>
            <a:off x="8991375" y="2384921"/>
            <a:ext cx="947912" cy="279400"/>
          </a:xfrm>
          <a:prstGeom prst="rect">
            <a:avLst/>
          </a:prstGeom>
          <a:noFill/>
          <a:ln/>
        </p:spPr>
        <p:txBody>
          <a:bodyPr wrap="none" lIns="0" tIns="0" rIns="0" bIns="0" rtlCol="0" anchor="t"/>
          <a:lstStyle/>
          <a:p>
            <a:pPr marL="0" indent="0" algn="l">
              <a:lnSpc>
                <a:spcPct val="83000"/>
              </a:lnSpc>
              <a:buNone/>
            </a:pPr>
            <a:r>
              <a:rPr lang="en-US" sz="2200" b="1" dirty="0">
                <a:solidFill>
                  <a:srgbClr val="5CC8F0"/>
                </a:solidFill>
                <a:latin typeface="Andika Bold" pitchFamily="34" charset="0"/>
                <a:ea typeface="Andika Bold" pitchFamily="34" charset="-122"/>
                <a:cs typeface="Andika Bold" pitchFamily="34" charset="-120"/>
              </a:rPr>
              <a:t>04</a:t>
            </a:r>
            <a:endParaRPr lang="en-US" sz="2200" dirty="0"/>
          </a:p>
        </p:txBody>
      </p:sp>
      <p:sp>
        <p:nvSpPr>
          <p:cNvPr id="11" name="Text 9"/>
          <p:cNvSpPr/>
          <p:nvPr/>
        </p:nvSpPr>
        <p:spPr>
          <a:xfrm>
            <a:off x="9609096" y="2350333"/>
            <a:ext cx="2125411" cy="782241"/>
          </a:xfrm>
          <a:prstGeom prst="rect">
            <a:avLst/>
          </a:prstGeom>
          <a:noFill/>
          <a:ln/>
        </p:spPr>
        <p:txBody>
          <a:bodyPr wrap="square" lIns="0" tIns="0" rIns="0" bIns="0" rtlCol="0" anchor="t">
            <a:normAutofit/>
          </a:bodyPr>
          <a:lstStyle/>
          <a:p>
            <a:pPr marL="0" indent="0" algn="l">
              <a:lnSpc>
                <a:spcPct val="117000"/>
              </a:lnSpc>
              <a:buNone/>
            </a:pPr>
            <a:r>
              <a:rPr lang="en-US" sz="2200" dirty="0">
                <a:solidFill>
                  <a:srgbClr val="F4EFE2"/>
                </a:solidFill>
                <a:latin typeface="Andika" pitchFamily="34" charset="0"/>
                <a:ea typeface="Andika" pitchFamily="34" charset="-122"/>
                <a:cs typeface="Andika" pitchFamily="34" charset="-120"/>
              </a:rPr>
              <a:t>Content summarisation</a:t>
            </a:r>
            <a:endParaRPr lang="en-US" sz="2200" dirty="0"/>
          </a:p>
        </p:txBody>
      </p:sp>
      <p:sp>
        <p:nvSpPr>
          <p:cNvPr id="12" name="Text 10"/>
          <p:cNvSpPr/>
          <p:nvPr/>
        </p:nvSpPr>
        <p:spPr>
          <a:xfrm>
            <a:off x="457189" y="3319562"/>
            <a:ext cx="947912" cy="279400"/>
          </a:xfrm>
          <a:prstGeom prst="rect">
            <a:avLst/>
          </a:prstGeom>
          <a:noFill/>
          <a:ln/>
        </p:spPr>
        <p:txBody>
          <a:bodyPr wrap="none" lIns="0" tIns="0" rIns="0" bIns="0" rtlCol="0" anchor="t"/>
          <a:lstStyle/>
          <a:p>
            <a:pPr marL="0" indent="0" algn="l">
              <a:lnSpc>
                <a:spcPct val="83000"/>
              </a:lnSpc>
              <a:buNone/>
            </a:pPr>
            <a:r>
              <a:rPr lang="en-US" sz="2200" b="1" dirty="0">
                <a:solidFill>
                  <a:srgbClr val="5CC8F0"/>
                </a:solidFill>
                <a:latin typeface="Andika Bold" pitchFamily="34" charset="0"/>
                <a:ea typeface="Andika Bold" pitchFamily="34" charset="-122"/>
                <a:cs typeface="Andika Bold" pitchFamily="34" charset="-120"/>
              </a:rPr>
              <a:t>05</a:t>
            </a:r>
            <a:endParaRPr lang="en-US" sz="2200" dirty="0"/>
          </a:p>
        </p:txBody>
      </p:sp>
      <p:sp>
        <p:nvSpPr>
          <p:cNvPr id="13" name="Text 11"/>
          <p:cNvSpPr/>
          <p:nvPr/>
        </p:nvSpPr>
        <p:spPr>
          <a:xfrm>
            <a:off x="1074909" y="3284974"/>
            <a:ext cx="2125411" cy="782241"/>
          </a:xfrm>
          <a:prstGeom prst="rect">
            <a:avLst/>
          </a:prstGeom>
          <a:noFill/>
          <a:ln/>
        </p:spPr>
        <p:txBody>
          <a:bodyPr wrap="square" lIns="0" tIns="0" rIns="0" bIns="0" rtlCol="0" anchor="t">
            <a:normAutofit/>
          </a:bodyPr>
          <a:lstStyle/>
          <a:p>
            <a:pPr marL="0" indent="0" algn="l">
              <a:lnSpc>
                <a:spcPct val="117000"/>
              </a:lnSpc>
              <a:buNone/>
            </a:pPr>
            <a:r>
              <a:rPr lang="en-US" sz="2200" dirty="0">
                <a:solidFill>
                  <a:srgbClr val="F4EFE2"/>
                </a:solidFill>
                <a:latin typeface="Andika" pitchFamily="34" charset="0"/>
                <a:ea typeface="Andika" pitchFamily="34" charset="-122"/>
                <a:cs typeface="Andika" pitchFamily="34" charset="-120"/>
              </a:rPr>
              <a:t>Prompt development</a:t>
            </a:r>
            <a:endParaRPr lang="en-US" sz="2200" dirty="0"/>
          </a:p>
        </p:txBody>
      </p:sp>
      <p:sp>
        <p:nvSpPr>
          <p:cNvPr id="14" name="Text 12"/>
          <p:cNvSpPr/>
          <p:nvPr/>
        </p:nvSpPr>
        <p:spPr>
          <a:xfrm>
            <a:off x="3352716" y="3319562"/>
            <a:ext cx="947912" cy="279400"/>
          </a:xfrm>
          <a:prstGeom prst="rect">
            <a:avLst/>
          </a:prstGeom>
          <a:noFill/>
          <a:ln/>
        </p:spPr>
        <p:txBody>
          <a:bodyPr wrap="none" lIns="0" tIns="0" rIns="0" bIns="0" rtlCol="0" anchor="t"/>
          <a:lstStyle/>
          <a:p>
            <a:pPr marL="0" indent="0" algn="l">
              <a:lnSpc>
                <a:spcPct val="83000"/>
              </a:lnSpc>
              <a:buNone/>
            </a:pPr>
            <a:r>
              <a:rPr lang="en-US" sz="2200" b="1" dirty="0">
                <a:solidFill>
                  <a:srgbClr val="5CC8F0"/>
                </a:solidFill>
                <a:latin typeface="Andika Bold" pitchFamily="34" charset="0"/>
                <a:ea typeface="Andika Bold" pitchFamily="34" charset="-122"/>
                <a:cs typeface="Andika Bold" pitchFamily="34" charset="-120"/>
              </a:rPr>
              <a:t>06</a:t>
            </a:r>
            <a:endParaRPr lang="en-US" sz="2200" dirty="0"/>
          </a:p>
        </p:txBody>
      </p:sp>
      <p:sp>
        <p:nvSpPr>
          <p:cNvPr id="15" name="Text 13"/>
          <p:cNvSpPr/>
          <p:nvPr/>
        </p:nvSpPr>
        <p:spPr>
          <a:xfrm>
            <a:off x="3970437" y="3284974"/>
            <a:ext cx="2049213" cy="782241"/>
          </a:xfrm>
          <a:prstGeom prst="rect">
            <a:avLst/>
          </a:prstGeom>
          <a:noFill/>
          <a:ln/>
        </p:spPr>
        <p:txBody>
          <a:bodyPr wrap="square" lIns="0" tIns="0" rIns="0" bIns="0" rtlCol="0" anchor="t">
            <a:normAutofit/>
          </a:bodyPr>
          <a:lstStyle/>
          <a:p>
            <a:pPr marL="0" indent="0" algn="l">
              <a:lnSpc>
                <a:spcPct val="117000"/>
              </a:lnSpc>
              <a:buNone/>
            </a:pPr>
            <a:r>
              <a:rPr lang="en-US" sz="2200" dirty="0">
                <a:solidFill>
                  <a:srgbClr val="F4EFE2"/>
                </a:solidFill>
                <a:latin typeface="Andika" pitchFamily="34" charset="0"/>
                <a:ea typeface="Andika" pitchFamily="34" charset="-122"/>
                <a:cs typeface="Andika" pitchFamily="34" charset="-120"/>
              </a:rPr>
              <a:t>Infographic design</a:t>
            </a:r>
            <a:endParaRPr lang="en-US" sz="2200" dirty="0"/>
          </a:p>
        </p:txBody>
      </p:sp>
      <p:sp>
        <p:nvSpPr>
          <p:cNvPr id="16" name="Text 14"/>
          <p:cNvSpPr/>
          <p:nvPr/>
        </p:nvSpPr>
        <p:spPr>
          <a:xfrm>
            <a:off x="6172046" y="3319562"/>
            <a:ext cx="947912" cy="279400"/>
          </a:xfrm>
          <a:prstGeom prst="rect">
            <a:avLst/>
          </a:prstGeom>
          <a:noFill/>
          <a:ln/>
        </p:spPr>
        <p:txBody>
          <a:bodyPr wrap="none" lIns="0" tIns="0" rIns="0" bIns="0" rtlCol="0" anchor="t"/>
          <a:lstStyle/>
          <a:p>
            <a:pPr marL="0" indent="0" algn="l">
              <a:lnSpc>
                <a:spcPct val="83000"/>
              </a:lnSpc>
              <a:buNone/>
            </a:pPr>
            <a:r>
              <a:rPr lang="en-US" sz="2200" b="1" dirty="0">
                <a:solidFill>
                  <a:srgbClr val="5CC8F0"/>
                </a:solidFill>
                <a:latin typeface="Andika Bold" pitchFamily="34" charset="0"/>
                <a:ea typeface="Andika Bold" pitchFamily="34" charset="-122"/>
                <a:cs typeface="Andika Bold" pitchFamily="34" charset="-120"/>
              </a:rPr>
              <a:t>07</a:t>
            </a:r>
            <a:endParaRPr lang="en-US" sz="2200" dirty="0"/>
          </a:p>
        </p:txBody>
      </p:sp>
      <p:sp>
        <p:nvSpPr>
          <p:cNvPr id="17" name="Text 15"/>
          <p:cNvSpPr/>
          <p:nvPr/>
        </p:nvSpPr>
        <p:spPr>
          <a:xfrm>
            <a:off x="6789766" y="3284974"/>
            <a:ext cx="2049213" cy="782241"/>
          </a:xfrm>
          <a:prstGeom prst="rect">
            <a:avLst/>
          </a:prstGeom>
          <a:noFill/>
          <a:ln/>
        </p:spPr>
        <p:txBody>
          <a:bodyPr wrap="square" lIns="0" tIns="0" rIns="0" bIns="0" rtlCol="0" anchor="t">
            <a:normAutofit/>
          </a:bodyPr>
          <a:lstStyle/>
          <a:p>
            <a:pPr marL="0" indent="0" algn="l">
              <a:lnSpc>
                <a:spcPct val="117000"/>
              </a:lnSpc>
              <a:buNone/>
            </a:pPr>
            <a:r>
              <a:rPr lang="en-US" sz="2200" dirty="0">
                <a:solidFill>
                  <a:srgbClr val="F4EFE2"/>
                </a:solidFill>
                <a:latin typeface="Andika" pitchFamily="34" charset="0"/>
                <a:ea typeface="Andika" pitchFamily="34" charset="-122"/>
                <a:cs typeface="Andika" pitchFamily="34" charset="-120"/>
              </a:rPr>
              <a:t>Alt-text and captions</a:t>
            </a:r>
            <a:endParaRPr lang="en-US" sz="2200" dirty="0"/>
          </a:p>
        </p:txBody>
      </p:sp>
      <p:sp>
        <p:nvSpPr>
          <p:cNvPr id="18" name="Text 16"/>
          <p:cNvSpPr/>
          <p:nvPr/>
        </p:nvSpPr>
        <p:spPr>
          <a:xfrm>
            <a:off x="8991375" y="3319562"/>
            <a:ext cx="947912" cy="279400"/>
          </a:xfrm>
          <a:prstGeom prst="rect">
            <a:avLst/>
          </a:prstGeom>
          <a:noFill/>
          <a:ln/>
        </p:spPr>
        <p:txBody>
          <a:bodyPr wrap="none" lIns="0" tIns="0" rIns="0" bIns="0" rtlCol="0" anchor="t"/>
          <a:lstStyle/>
          <a:p>
            <a:pPr marL="0" indent="0" algn="l">
              <a:lnSpc>
                <a:spcPct val="83000"/>
              </a:lnSpc>
              <a:buNone/>
            </a:pPr>
            <a:r>
              <a:rPr lang="en-US" sz="2200" b="1" dirty="0">
                <a:solidFill>
                  <a:srgbClr val="5CC8F0"/>
                </a:solidFill>
                <a:latin typeface="Andika Bold" pitchFamily="34" charset="0"/>
                <a:ea typeface="Andika Bold" pitchFamily="34" charset="-122"/>
                <a:cs typeface="Andika Bold" pitchFamily="34" charset="-120"/>
              </a:rPr>
              <a:t>08</a:t>
            </a:r>
            <a:endParaRPr lang="en-US" sz="2200" dirty="0"/>
          </a:p>
        </p:txBody>
      </p:sp>
      <p:sp>
        <p:nvSpPr>
          <p:cNvPr id="19" name="Text 17"/>
          <p:cNvSpPr/>
          <p:nvPr/>
        </p:nvSpPr>
        <p:spPr>
          <a:xfrm>
            <a:off x="9609096" y="3284974"/>
            <a:ext cx="2125411" cy="782241"/>
          </a:xfrm>
          <a:prstGeom prst="rect">
            <a:avLst/>
          </a:prstGeom>
          <a:noFill/>
          <a:ln/>
        </p:spPr>
        <p:txBody>
          <a:bodyPr wrap="square" lIns="0" tIns="0" rIns="0" bIns="0" rtlCol="0" anchor="t">
            <a:normAutofit/>
          </a:bodyPr>
          <a:lstStyle/>
          <a:p>
            <a:pPr marL="0" indent="0" algn="l">
              <a:lnSpc>
                <a:spcPct val="117000"/>
              </a:lnSpc>
              <a:buNone/>
            </a:pPr>
            <a:r>
              <a:rPr lang="en-US" sz="2200" dirty="0">
                <a:solidFill>
                  <a:srgbClr val="F4EFE2"/>
                </a:solidFill>
                <a:latin typeface="Andika" pitchFamily="34" charset="0"/>
                <a:ea typeface="Andika" pitchFamily="34" charset="-122"/>
                <a:cs typeface="Andika" pitchFamily="34" charset="-120"/>
              </a:rPr>
              <a:t>Final quality check</a:t>
            </a:r>
            <a:endParaRPr lang="en-US" sz="2200" dirty="0"/>
          </a:p>
        </p:txBody>
      </p:sp>
      <p:sp>
        <p:nvSpPr>
          <p:cNvPr id="20" name="Shape 18"/>
          <p:cNvSpPr/>
          <p:nvPr/>
        </p:nvSpPr>
        <p:spPr>
          <a:xfrm>
            <a:off x="457189" y="4249142"/>
            <a:ext cx="5562461" cy="573980"/>
          </a:xfrm>
          <a:prstGeom prst="rect">
            <a:avLst/>
          </a:prstGeom>
          <a:solidFill>
            <a:srgbClr val="1F2858"/>
          </a:solidFill>
          <a:ln/>
        </p:spPr>
      </p:sp>
      <p:sp>
        <p:nvSpPr>
          <p:cNvPr id="21" name="Text 19"/>
          <p:cNvSpPr/>
          <p:nvPr/>
        </p:nvSpPr>
        <p:spPr>
          <a:xfrm>
            <a:off x="634985" y="4391382"/>
            <a:ext cx="698516" cy="319980"/>
          </a:xfrm>
          <a:prstGeom prst="rect">
            <a:avLst/>
          </a:prstGeom>
          <a:noFill/>
          <a:ln/>
        </p:spPr>
        <p:txBody>
          <a:bodyPr wrap="none" lIns="0" tIns="0" rIns="0" bIns="0" rtlCol="0" anchor="t"/>
          <a:lstStyle/>
          <a:p>
            <a:pPr marL="0" indent="0" algn="l">
              <a:lnSpc>
                <a:spcPct val="117000"/>
              </a:lnSpc>
              <a:buNone/>
            </a:pPr>
            <a:r>
              <a:rPr lang="en-US" sz="1800" b="1" dirty="0">
                <a:solidFill>
                  <a:srgbClr val="F4EFE2"/>
                </a:solidFill>
                <a:latin typeface="Andika Bold" pitchFamily="34" charset="0"/>
                <a:ea typeface="Andika Bold" pitchFamily="34" charset="-122"/>
                <a:cs typeface="Andika Bold" pitchFamily="34" charset="-120"/>
              </a:rPr>
              <a:t>Tools:</a:t>
            </a:r>
            <a:endParaRPr lang="en-US" sz="1800" dirty="0"/>
          </a:p>
        </p:txBody>
      </p:sp>
      <p:sp>
        <p:nvSpPr>
          <p:cNvPr id="22" name="Shape 20"/>
          <p:cNvSpPr/>
          <p:nvPr/>
        </p:nvSpPr>
        <p:spPr>
          <a:xfrm>
            <a:off x="6172046" y="4249142"/>
            <a:ext cx="5562461" cy="573980"/>
          </a:xfrm>
          <a:prstGeom prst="rect">
            <a:avLst/>
          </a:prstGeom>
          <a:solidFill>
            <a:srgbClr val="1F2858"/>
          </a:solidFill>
          <a:ln/>
        </p:spPr>
      </p:sp>
      <p:sp>
        <p:nvSpPr>
          <p:cNvPr id="23" name="Text 21"/>
          <p:cNvSpPr/>
          <p:nvPr/>
        </p:nvSpPr>
        <p:spPr>
          <a:xfrm>
            <a:off x="6349841" y="4391382"/>
            <a:ext cx="1289209" cy="319980"/>
          </a:xfrm>
          <a:prstGeom prst="rect">
            <a:avLst/>
          </a:prstGeom>
          <a:noFill/>
          <a:ln/>
        </p:spPr>
        <p:txBody>
          <a:bodyPr wrap="none" lIns="0" tIns="0" rIns="0" bIns="0" rtlCol="0" anchor="t"/>
          <a:lstStyle/>
          <a:p>
            <a:pPr marL="0" indent="0" algn="l">
              <a:lnSpc>
                <a:spcPct val="117000"/>
              </a:lnSpc>
              <a:buNone/>
            </a:pPr>
            <a:r>
              <a:rPr lang="en-US" sz="1800" b="1" dirty="0">
                <a:solidFill>
                  <a:srgbClr val="F4EFE2"/>
                </a:solidFill>
                <a:latin typeface="Andika Bold" pitchFamily="34" charset="0"/>
                <a:ea typeface="Andika Bold" pitchFamily="34" charset="-122"/>
                <a:cs typeface="Andika Bold" pitchFamily="34" charset="-120"/>
              </a:rPr>
              <a:t>Repository:</a:t>
            </a:r>
            <a:endParaRPr lang="en-US" sz="1800" dirty="0"/>
          </a:p>
        </p:txBody>
      </p:sp>
      <p:sp>
        <p:nvSpPr>
          <p:cNvPr id="24" name="Text 22"/>
          <p:cNvSpPr/>
          <p:nvPr/>
        </p:nvSpPr>
        <p:spPr>
          <a:xfrm>
            <a:off x="457189" y="5050135"/>
            <a:ext cx="11277318" cy="857250"/>
          </a:xfrm>
          <a:prstGeom prst="rect">
            <a:avLst/>
          </a:prstGeom>
          <a:noFill/>
          <a:ln/>
        </p:spPr>
        <p:txBody>
          <a:bodyPr wrap="square" lIns="0" tIns="0" rIns="0" bIns="0" rtlCol="0" anchor="t">
            <a:normAutofit/>
          </a:bodyPr>
          <a:lstStyle/>
          <a:p>
            <a:pPr marL="0" indent="0" algn="l">
              <a:lnSpc>
                <a:spcPct val="104000"/>
              </a:lnSpc>
              <a:buNone/>
            </a:pPr>
            <a:r>
              <a:rPr lang="en-US" sz="1800" dirty="0">
                <a:solidFill>
                  <a:srgbClr val="BFC3DD"/>
                </a:solidFill>
                <a:latin typeface="Andika" pitchFamily="34" charset="0"/>
                <a:ea typeface="Andika" pitchFamily="34" charset="-122"/>
                <a:cs typeface="Andika" pitchFamily="34" charset="-120"/>
              </a:rPr>
              <a:t>AI may support research planning, summarisation, prompt refinement, source organization, visual concepts, captions, alt text, and consistency review. Figures, source labels, and alt text must match the final infographic exports.</a:t>
            </a:r>
            <a:endParaRPr lang="en-US" sz="1800" dirty="0"/>
          </a:p>
        </p:txBody>
      </p:sp>
      <p:sp>
        <p:nvSpPr>
          <p:cNvPr id="25" name="Text 23"/>
          <p:cNvSpPr/>
          <p:nvPr/>
        </p:nvSpPr>
        <p:spPr>
          <a:xfrm>
            <a:off x="11630032" y="6522740"/>
            <a:ext cx="561663" cy="213320"/>
          </a:xfrm>
          <a:prstGeom prst="rect">
            <a:avLst/>
          </a:prstGeom>
          <a:noFill/>
          <a:ln/>
        </p:spPr>
        <p:txBody>
          <a:bodyPr wrap="none" lIns="0" tIns="0" rIns="0" bIns="0" rtlCol="0" anchor="ctr"/>
          <a:lstStyle/>
          <a:p>
            <a:pPr marL="0" indent="0" algn="l">
              <a:lnSpc>
                <a:spcPct val="117000"/>
              </a:lnSpc>
              <a:buNone/>
            </a:pPr>
            <a:r>
              <a:rPr lang="en-US" sz="1200" b="1" kern="100" spc="96" dirty="0">
                <a:solidFill>
                  <a:srgbClr val="5CC8F0"/>
                </a:solidFill>
                <a:latin typeface="Andika Bold" pitchFamily="34" charset="0"/>
                <a:ea typeface="Andika Bold" pitchFamily="34" charset="-122"/>
                <a:cs typeface="Andika Bold" pitchFamily="34" charset="-120"/>
              </a:rPr>
              <a:t>6</a:t>
            </a:r>
            <a:endParaRPr lang="en-US" sz="1200" dirty="0"/>
          </a:p>
        </p:txBody>
      </p:sp>
      <p:sp>
        <p:nvSpPr>
          <p:cNvPr id="27" name="Rectangle 26">
            <a:extLst>
              <a:ext uri="{FF2B5EF4-FFF2-40B4-BE49-F238E27FC236}">
                <a16:creationId xmlns:a16="http://schemas.microsoft.com/office/drawing/2014/main" id="{31C7A124-7558-3E0E-3D23-8AC0CE7DF14C}"/>
              </a:ext>
            </a:extLst>
          </p:cNvPr>
          <p:cNvSpPr/>
          <p:nvPr/>
        </p:nvSpPr>
        <p:spPr>
          <a:xfrm>
            <a:off x="10217020" y="5649459"/>
            <a:ext cx="1909360" cy="1166327"/>
          </a:xfrm>
          <a:prstGeom prst="rect">
            <a:avLst/>
          </a:prstGeom>
          <a:solidFill>
            <a:srgbClr val="141B45"/>
          </a:solidFill>
          <a:ln>
            <a:solidFill>
              <a:srgbClr val="141B4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8F8D503A-A1C1-5774-268F-F92B347DC32D}"/>
              </a:ext>
            </a:extLst>
          </p:cNvPr>
          <p:cNvSpPr txBox="1"/>
          <p:nvPr/>
        </p:nvSpPr>
        <p:spPr>
          <a:xfrm>
            <a:off x="7639050" y="4343232"/>
            <a:ext cx="4095456" cy="430887"/>
          </a:xfrm>
          <a:prstGeom prst="rect">
            <a:avLst/>
          </a:prstGeom>
          <a:noFill/>
        </p:spPr>
        <p:txBody>
          <a:bodyPr wrap="square" rtlCol="0">
            <a:spAutoFit/>
          </a:bodyPr>
          <a:lstStyle/>
          <a:p>
            <a:r>
              <a:rPr lang="en-IN" sz="1100" dirty="0">
                <a:solidFill>
                  <a:schemeClr val="bg1"/>
                </a:solidFill>
              </a:rPr>
              <a:t>https://github.com/nithiyadharshini06-del/capstone-48-e-waste-india.git</a:t>
            </a:r>
          </a:p>
        </p:txBody>
      </p:sp>
      <p:sp>
        <p:nvSpPr>
          <p:cNvPr id="29" name="TextBox 28">
            <a:extLst>
              <a:ext uri="{FF2B5EF4-FFF2-40B4-BE49-F238E27FC236}">
                <a16:creationId xmlns:a16="http://schemas.microsoft.com/office/drawing/2014/main" id="{CE3E207A-6F61-8FD6-1876-FCE2E497B9B6}"/>
              </a:ext>
            </a:extLst>
          </p:cNvPr>
          <p:cNvSpPr txBox="1"/>
          <p:nvPr/>
        </p:nvSpPr>
        <p:spPr>
          <a:xfrm>
            <a:off x="1237395" y="4242028"/>
            <a:ext cx="4878361" cy="600164"/>
          </a:xfrm>
          <a:prstGeom prst="rect">
            <a:avLst/>
          </a:prstGeom>
          <a:noFill/>
        </p:spPr>
        <p:txBody>
          <a:bodyPr wrap="square">
            <a:spAutoFit/>
          </a:bodyPr>
          <a:lstStyle/>
          <a:p>
            <a:pPr>
              <a:buNone/>
            </a:pPr>
            <a:r>
              <a:rPr lang="en-IN" sz="1100" dirty="0">
                <a:solidFill>
                  <a:schemeClr val="bg1"/>
                </a:solidFill>
              </a:rPr>
              <a:t>ChatGPT (research planning, prompt development, summarisation, captions, and alt text); Microsoft Word/PowerPoint (documentation and presentation); CSV/spreadsheet tools (fact and source verification).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189" y="483127"/>
            <a:ext cx="7970340" cy="258167"/>
          </a:xfrm>
          <a:prstGeom prst="rect">
            <a:avLst/>
          </a:prstGeom>
          <a:noFill/>
          <a:ln/>
        </p:spPr>
        <p:txBody>
          <a:bodyPr wrap="none" lIns="0" tIns="0" rIns="0" bIns="0" rtlCol="0" anchor="t"/>
          <a:lstStyle/>
          <a:p>
            <a:pPr marL="0" indent="0" algn="l">
              <a:lnSpc>
                <a:spcPct val="100000"/>
              </a:lnSpc>
              <a:buNone/>
            </a:pPr>
            <a:r>
              <a:rPr lang="en-US" sz="1700" b="1" kern="100" spc="136" dirty="0">
                <a:solidFill>
                  <a:srgbClr val="5CC8F0"/>
                </a:solidFill>
                <a:latin typeface="Andika Bold" pitchFamily="34" charset="0"/>
                <a:ea typeface="Andika Bold" pitchFamily="34" charset="-122"/>
                <a:cs typeface="Andika Bold" pitchFamily="34" charset="-120"/>
              </a:rPr>
              <a:t>FINAL TAKEAWAY</a:t>
            </a:r>
            <a:endParaRPr lang="en-US" sz="1700" dirty="0"/>
          </a:p>
        </p:txBody>
      </p:sp>
      <p:sp>
        <p:nvSpPr>
          <p:cNvPr id="3" name="Text 1"/>
          <p:cNvSpPr/>
          <p:nvPr/>
        </p:nvSpPr>
        <p:spPr>
          <a:xfrm>
            <a:off x="457189" y="826839"/>
            <a:ext cx="7513152" cy="853480"/>
          </a:xfrm>
          <a:prstGeom prst="rect">
            <a:avLst/>
          </a:prstGeom>
          <a:noFill/>
          <a:ln/>
        </p:spPr>
        <p:txBody>
          <a:bodyPr wrap="square" lIns="0" tIns="0" rIns="0" bIns="0" rtlCol="0" anchor="t">
            <a:normAutofit/>
          </a:bodyPr>
          <a:lstStyle/>
          <a:p>
            <a:pPr marL="0" indent="0" algn="l">
              <a:lnSpc>
                <a:spcPct val="87000"/>
              </a:lnSpc>
              <a:buNone/>
            </a:pPr>
            <a:r>
              <a:rPr lang="en-US" sz="3200" b="1" kern="100" spc="-32" dirty="0">
                <a:solidFill>
                  <a:srgbClr val="F4EFE2"/>
                </a:solidFill>
                <a:latin typeface="Bitter Bold" pitchFamily="34" charset="0"/>
                <a:ea typeface="Bitter Bold" pitchFamily="34" charset="-122"/>
                <a:cs typeface="Bitter Bold" pitchFamily="34" charset="-120"/>
              </a:rPr>
              <a:t>Responsible disposal is the project’s final takeaway</a:t>
            </a:r>
            <a:endParaRPr lang="en-US" sz="3200" dirty="0"/>
          </a:p>
        </p:txBody>
      </p:sp>
      <p:sp>
        <p:nvSpPr>
          <p:cNvPr id="4" name="Text 2"/>
          <p:cNvSpPr/>
          <p:nvPr/>
        </p:nvSpPr>
        <p:spPr>
          <a:xfrm>
            <a:off x="457189" y="1870309"/>
            <a:ext cx="7513152" cy="1429544"/>
          </a:xfrm>
          <a:prstGeom prst="rect">
            <a:avLst/>
          </a:prstGeom>
          <a:noFill/>
          <a:ln/>
        </p:spPr>
        <p:txBody>
          <a:bodyPr wrap="square" lIns="0" tIns="0" rIns="0" bIns="0" rtlCol="0" anchor="t">
            <a:normAutofit/>
          </a:bodyPr>
          <a:lstStyle/>
          <a:p>
            <a:pPr marL="0" indent="0" algn="l">
              <a:lnSpc>
                <a:spcPct val="113000"/>
              </a:lnSpc>
              <a:buNone/>
            </a:pPr>
            <a:r>
              <a:rPr lang="en-US" sz="2050" dirty="0">
                <a:solidFill>
                  <a:srgbClr val="F4EFE2"/>
                </a:solidFill>
                <a:latin typeface="Andika" pitchFamily="34" charset="0"/>
                <a:ea typeface="Andika" pitchFamily="34" charset="-122"/>
                <a:cs typeface="Andika" pitchFamily="34" charset="-120"/>
              </a:rPr>
              <a:t>Three educational infographic themes combine research, fact verification, visual communication, and accessibility to improve students’ understanding of e-waste and responsible disposal.</a:t>
            </a:r>
            <a:endParaRPr lang="en-US" sz="2050" dirty="0"/>
          </a:p>
        </p:txBody>
      </p:sp>
      <p:sp>
        <p:nvSpPr>
          <p:cNvPr id="5" name="Text 3"/>
          <p:cNvSpPr/>
          <p:nvPr/>
        </p:nvSpPr>
        <p:spPr>
          <a:xfrm>
            <a:off x="457189" y="3479835"/>
            <a:ext cx="3680328" cy="1429544"/>
          </a:xfrm>
          <a:prstGeom prst="rect">
            <a:avLst/>
          </a:prstGeom>
          <a:noFill/>
          <a:ln/>
        </p:spPr>
        <p:txBody>
          <a:bodyPr wrap="square" lIns="0" tIns="0" rIns="0" bIns="0" rtlCol="0" anchor="t">
            <a:normAutofit/>
          </a:bodyPr>
          <a:lstStyle/>
          <a:p>
            <a:pPr marL="0" indent="0" algn="l">
              <a:lnSpc>
                <a:spcPct val="113000"/>
              </a:lnSpc>
              <a:buNone/>
            </a:pPr>
            <a:r>
              <a:rPr lang="en-US" sz="2050" b="1" dirty="0">
                <a:solidFill>
                  <a:srgbClr val="F4EFE2"/>
                </a:solidFill>
                <a:latin typeface="Andika Bold" pitchFamily="34" charset="0"/>
                <a:ea typeface="Andika Bold" pitchFamily="34" charset="-122"/>
                <a:cs typeface="Andika Bold" pitchFamily="34" charset="-120"/>
              </a:rPr>
              <a:t>Limitations:</a:t>
            </a:r>
            <a:r>
              <a:rPr lang="en-US" sz="2050" dirty="0">
                <a:solidFill>
                  <a:srgbClr val="F4EFE2"/>
                </a:solidFill>
                <a:latin typeface="Andika" pitchFamily="34" charset="0"/>
                <a:ea typeface="Andika" pitchFamily="34" charset="-122"/>
                <a:cs typeface="Andika" pitchFamily="34" charset="-120"/>
              </a:rPr>
              <a:t> verify every statistic against its original source; keep final graphics readable and accessible.</a:t>
            </a:r>
            <a:endParaRPr lang="en-US" sz="2050" dirty="0"/>
          </a:p>
        </p:txBody>
      </p:sp>
      <p:sp>
        <p:nvSpPr>
          <p:cNvPr id="6" name="Text 4"/>
          <p:cNvSpPr/>
          <p:nvPr/>
        </p:nvSpPr>
        <p:spPr>
          <a:xfrm>
            <a:off x="4289913" y="3479835"/>
            <a:ext cx="3680427" cy="1786930"/>
          </a:xfrm>
          <a:prstGeom prst="rect">
            <a:avLst/>
          </a:prstGeom>
          <a:noFill/>
          <a:ln/>
        </p:spPr>
        <p:txBody>
          <a:bodyPr wrap="square" lIns="0" tIns="0" rIns="0" bIns="0" rtlCol="0" anchor="t">
            <a:normAutofit/>
          </a:bodyPr>
          <a:lstStyle/>
          <a:p>
            <a:pPr marL="0" indent="0" algn="l">
              <a:lnSpc>
                <a:spcPct val="113000"/>
              </a:lnSpc>
              <a:buNone/>
            </a:pPr>
            <a:r>
              <a:rPr lang="en-US" sz="2050" b="1" dirty="0">
                <a:solidFill>
                  <a:srgbClr val="F4EFE2"/>
                </a:solidFill>
                <a:latin typeface="Andika Bold" pitchFamily="34" charset="0"/>
                <a:ea typeface="Andika Bold" pitchFamily="34" charset="-122"/>
                <a:cs typeface="Andika Bold" pitchFamily="34" charset="-120"/>
              </a:rPr>
              <a:t>Next step:</a:t>
            </a:r>
            <a:r>
              <a:rPr lang="en-US" sz="2050" dirty="0">
                <a:solidFill>
                  <a:srgbClr val="F4EFE2"/>
                </a:solidFill>
                <a:latin typeface="Andika" pitchFamily="34" charset="0"/>
                <a:ea typeface="Andika" pitchFamily="34" charset="-122"/>
                <a:cs typeface="Andika" pitchFamily="34" charset="-120"/>
              </a:rPr>
              <a:t> distribute infographics through college noticeboards, student groups, and campus awareness campaigns.</a:t>
            </a:r>
            <a:endParaRPr lang="en-US" sz="2050" dirty="0"/>
          </a:p>
        </p:txBody>
      </p:sp>
      <p:sp>
        <p:nvSpPr>
          <p:cNvPr id="7" name="Text 5"/>
          <p:cNvSpPr/>
          <p:nvPr/>
        </p:nvSpPr>
        <p:spPr>
          <a:xfrm>
            <a:off x="457189" y="5634306"/>
            <a:ext cx="7513152" cy="824905"/>
          </a:xfrm>
          <a:prstGeom prst="rect">
            <a:avLst/>
          </a:prstGeom>
          <a:noFill/>
          <a:ln/>
        </p:spPr>
        <p:txBody>
          <a:bodyPr wrap="square" lIns="0" tIns="0" rIns="0" bIns="0" rtlCol="0" anchor="t">
            <a:normAutofit/>
          </a:bodyPr>
          <a:lstStyle/>
          <a:p>
            <a:pPr marL="0" indent="0" algn="l">
              <a:lnSpc>
                <a:spcPct val="96000"/>
              </a:lnSpc>
              <a:buNone/>
            </a:pPr>
            <a:r>
              <a:rPr lang="en-US" sz="2800" b="1" dirty="0">
                <a:solidFill>
                  <a:srgbClr val="F4EFE2"/>
                </a:solidFill>
                <a:latin typeface="Andika Bold" pitchFamily="34" charset="0"/>
                <a:ea typeface="Andika Bold" pitchFamily="34" charset="-122"/>
                <a:cs typeface="Andika Bold" pitchFamily="34" charset="-120"/>
              </a:rPr>
              <a:t>Use technology responsibly.</a:t>
            </a:r>
            <a:endParaRPr lang="en-US" sz="2800" dirty="0"/>
          </a:p>
          <a:p>
            <a:pPr marL="0" indent="0" algn="l">
              <a:lnSpc>
                <a:spcPct val="96000"/>
              </a:lnSpc>
              <a:buNone/>
            </a:pPr>
            <a:r>
              <a:rPr lang="en-US" sz="2800" b="1" dirty="0">
                <a:solidFill>
                  <a:srgbClr val="F4EFE2"/>
                </a:solidFill>
                <a:latin typeface="Andika Bold" pitchFamily="34" charset="0"/>
                <a:ea typeface="Andika Bold" pitchFamily="34" charset="-122"/>
                <a:cs typeface="Andika Bold" pitchFamily="34" charset="-120"/>
              </a:rPr>
              <a:t>Keep e-waste out of the wrong places.</a:t>
            </a:r>
            <a:endParaRPr lang="en-US" sz="2800" dirty="0"/>
          </a:p>
        </p:txBody>
      </p:sp>
      <p:sp>
        <p:nvSpPr>
          <p:cNvPr id="8" name="Text 6"/>
          <p:cNvSpPr/>
          <p:nvPr/>
        </p:nvSpPr>
        <p:spPr>
          <a:xfrm>
            <a:off x="457189" y="6581398"/>
            <a:ext cx="7970340" cy="268982"/>
          </a:xfrm>
          <a:prstGeom prst="rect">
            <a:avLst/>
          </a:prstGeom>
          <a:noFill/>
          <a:ln/>
        </p:spPr>
        <p:txBody>
          <a:bodyPr wrap="none" lIns="0" tIns="0" rIns="0" bIns="0" rtlCol="0" anchor="t"/>
          <a:lstStyle/>
          <a:p>
            <a:pPr marL="0" indent="0" algn="l">
              <a:lnSpc>
                <a:spcPct val="104000"/>
              </a:lnSpc>
              <a:buNone/>
            </a:pPr>
            <a:r>
              <a:rPr lang="en-US" sz="1700" dirty="0">
                <a:solidFill>
                  <a:srgbClr val="BFC3DD"/>
                </a:solidFill>
                <a:latin typeface="Andika" pitchFamily="34" charset="0"/>
                <a:ea typeface="Andika" pitchFamily="34" charset="-122"/>
                <a:cs typeface="Andika" pitchFamily="34" charset="-120"/>
              </a:rPr>
              <a:t>Sources: </a:t>
            </a:r>
            <a:r>
              <a:rPr lang="en-US" sz="1700" b="1" u="sng" dirty="0">
                <a:solidFill>
                  <a:srgbClr val="5CC8F0"/>
                </a:solidFill>
                <a:latin typeface="Andika Bold" pitchFamily="34" charset="0"/>
                <a:ea typeface="Andika Bold" pitchFamily="34" charset="-122"/>
                <a:cs typeface="Andika Bold" pitchFamily="34" charset="-120"/>
                <a:hlinkClick r:id="rId3">
                  <a:extLst>
                    <a:ext uri="{A12FA001-AC4F-418D-AE19-62706E023703}">
                      <ahyp:hlinkClr xmlns:ahyp="http://schemas.microsoft.com/office/drawing/2018/hyperlinkcolor" val="tx"/>
                    </a:ext>
                  </a:extLst>
                </a:hlinkClick>
              </a:rPr>
              <a:t>Government of India PIB</a:t>
            </a:r>
            <a:r>
              <a:rPr lang="en-US" sz="1700" dirty="0">
                <a:solidFill>
                  <a:srgbClr val="BFC3DD"/>
                </a:solidFill>
                <a:latin typeface="Andika" pitchFamily="34" charset="0"/>
                <a:ea typeface="Andika" pitchFamily="34" charset="-122"/>
                <a:cs typeface="Andika" pitchFamily="34" charset="-120"/>
              </a:rPr>
              <a:t> · </a:t>
            </a:r>
            <a:r>
              <a:rPr lang="en-US" sz="1700" b="1" u="sng" dirty="0">
                <a:solidFill>
                  <a:srgbClr val="5CC8F0"/>
                </a:solidFill>
                <a:latin typeface="Andika Bold" pitchFamily="34" charset="0"/>
                <a:ea typeface="Andika Bold" pitchFamily="34" charset="-122"/>
                <a:cs typeface="Andika Bold" pitchFamily="34" charset="-120"/>
                <a:hlinkClick r:id="rId4">
                  <a:extLst>
                    <a:ext uri="{A12FA001-AC4F-418D-AE19-62706E023703}">
                      <ahyp:hlinkClr xmlns:ahyp="http://schemas.microsoft.com/office/drawing/2018/hyperlinkcolor" val="tx"/>
                    </a:ext>
                  </a:extLst>
                </a:hlinkClick>
              </a:rPr>
              <a:t>CPCB e-waste portal</a:t>
            </a:r>
            <a:endParaRPr lang="en-US" sz="1700" dirty="0"/>
          </a:p>
        </p:txBody>
      </p:sp>
      <p:sp>
        <p:nvSpPr>
          <p:cNvPr id="9" name="Shape 7"/>
          <p:cNvSpPr/>
          <p:nvPr/>
        </p:nvSpPr>
        <p:spPr>
          <a:xfrm>
            <a:off x="8579826" y="0"/>
            <a:ext cx="3611869" cy="6858000"/>
          </a:xfrm>
          <a:prstGeom prst="rect">
            <a:avLst/>
          </a:prstGeom>
          <a:noFill/>
          <a:ln w="19050">
            <a:solidFill>
              <a:srgbClr val="F4EFE2"/>
            </a:solidFill>
            <a:prstDash val="solid"/>
          </a:ln>
        </p:spPr>
      </p:sp>
      <p:pic>
        <p:nvPicPr>
          <p:cNvPr id="10" name="Image 0" descr="preencoded.png"/>
          <p:cNvPicPr>
            <a:picLocks noChangeAspect="1"/>
          </p:cNvPicPr>
          <p:nvPr/>
        </p:nvPicPr>
        <p:blipFill>
          <a:blip r:embed="rId5"/>
          <a:stretch>
            <a:fillRect/>
          </a:stretch>
        </p:blipFill>
        <p:spPr>
          <a:xfrm>
            <a:off x="8598876" y="19050"/>
            <a:ext cx="3573770" cy="6819900"/>
          </a:xfrm>
          <a:prstGeom prst="rect">
            <a:avLst/>
          </a:prstGeom>
        </p:spPr>
      </p:pic>
      <p:sp>
        <p:nvSpPr>
          <p:cNvPr id="11" name="Text 8"/>
          <p:cNvSpPr/>
          <p:nvPr/>
        </p:nvSpPr>
        <p:spPr>
          <a:xfrm>
            <a:off x="457189" y="6522740"/>
            <a:ext cx="714059" cy="213320"/>
          </a:xfrm>
          <a:prstGeom prst="rect">
            <a:avLst/>
          </a:prstGeom>
          <a:noFill/>
          <a:ln/>
        </p:spPr>
        <p:txBody>
          <a:bodyPr wrap="none" lIns="0" tIns="0" rIns="0" bIns="0" rtlCol="0" anchor="ctr"/>
          <a:lstStyle/>
          <a:p>
            <a:pPr marL="0" indent="0" algn="l">
              <a:lnSpc>
                <a:spcPct val="117000"/>
              </a:lnSpc>
              <a:buNone/>
            </a:pPr>
            <a:r>
              <a:rPr lang="en-US" sz="1200" b="1" kern="100" spc="96" dirty="0">
                <a:solidFill>
                  <a:srgbClr val="5CC8F0"/>
                </a:solidFill>
                <a:latin typeface="Andika Bold" pitchFamily="34" charset="0"/>
                <a:ea typeface="Andika Bold" pitchFamily="34" charset="-122"/>
                <a:cs typeface="Andika Bold" pitchFamily="34" charset="-120"/>
              </a:rPr>
              <a:t>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5CC8F0"/>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758</Words>
  <Application>Microsoft Office PowerPoint</Application>
  <PresentationFormat>Widescreen</PresentationFormat>
  <Paragraphs>84</Paragraphs>
  <Slides>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Andika</vt:lpstr>
      <vt:lpstr>Andika Bold</vt:lpstr>
      <vt:lpstr>Bitter Bold</vt:lpstr>
      <vt:lpstr>Bitter ExtraBold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Nithish Ganesan</cp:lastModifiedBy>
  <cp:revision>4</cp:revision>
  <dcterms:created xsi:type="dcterms:W3CDTF">2026-10-18T15:55:59Z</dcterms:created>
  <dcterms:modified xsi:type="dcterms:W3CDTF">2026-10-19T02:10:47Z</dcterms:modified>
</cp:coreProperties>
</file>